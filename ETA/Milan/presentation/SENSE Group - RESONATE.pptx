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40"/>
    <p:restoredTop sz="94689"/>
  </p:normalViewPr>
  <p:slideViewPr>
    <p:cSldViewPr snapToGrid="0" snapToObjects="1">
      <p:cViewPr varScale="1">
        <p:scale>
          <a:sx n="104" d="100"/>
          <a:sy n="104" d="100"/>
        </p:scale>
        <p:origin x="464"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3070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 s. Introduce the three of us and the one-line idea: an acoustic twin that recommends what to build, plant or change.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 min. Problem: traffic noise reaches the people least able to escape it: pupils, patients, care-home residents. Noise is Europe's second environmental health risk, yet there are no EU limit values. Cities have maps and sensors, but going from 'here is the noise' to 'here is what to build, plant or change' is still expert guesswork; only 43 intervention studies report health outcomes. Our question, kept simple: can we build a tool that predicts which interventions will make these places quieter and better to be in? Aim: RESONATE. And what matters is not only decibels: parrots are loud but don't annoy, a horn does, so we model sources, perception and neighbourhood features.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~2.5 min. Three objectives, one per layer, walked round the loop. 1 Observe: gather the information, meaning sound data plus the full description of the neighbourhood (typology, morphology, vegetation) and how people perceive it. 2 Twin: the physics-based neighbourhood twin, calibrated on those data, which predicts measured and perceived sound and generates the what-if scenarios the AI learns from. 3 Prescribe: the AI ranks a costed portfolio, which we co-implement and test in living labs in London, Munich and Milan and feed back. Team: AI (Imperial), physical and health models (PoliMi), nature-based solutions and field work (TUM). Still missing: acoustics/soundscape monitoring and public health. Stakeholders in three groups.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 min. Progress: team, framework agreed in London, concept and literature screening, Connect Fund drafted. Year plan: visit TUM and submit Connect Fund, acoustics course, workshop and visits, review paper with preliminary results, then the screened funding call. Close: 'We want to turn noise maps into decisions, starting with the buildings where it matters most.'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6.jpg"/></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itle-background.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822960" y="1234440"/>
            <a:ext cx="10515600" cy="1097280"/>
          </a:xfrm>
          <a:prstGeom prst="rect">
            <a:avLst/>
          </a:prstGeom>
          <a:noFill/>
        </p:spPr>
        <p:txBody>
          <a:bodyPr wrap="square" lIns="36576" tIns="36576" rIns="36576" bIns="36576" anchor="t">
            <a:spAutoFit/>
          </a:bodyPr>
          <a:lstStyle/>
          <a:p>
            <a:pPr algn="ctr"/>
            <a:r>
              <a:rPr sz="6600" b="1" i="0" dirty="0">
                <a:solidFill>
                  <a:srgbClr val="1C5694"/>
                </a:solidFill>
                <a:latin typeface="Calibri"/>
              </a:rPr>
              <a:t>RESONATE</a:t>
            </a:r>
          </a:p>
        </p:txBody>
      </p:sp>
      <p:sp>
        <p:nvSpPr>
          <p:cNvPr id="4" name="TextBox 3"/>
          <p:cNvSpPr txBox="1"/>
          <p:nvPr/>
        </p:nvSpPr>
        <p:spPr>
          <a:xfrm>
            <a:off x="1097280" y="2331720"/>
            <a:ext cx="9966960" cy="381643"/>
          </a:xfrm>
          <a:prstGeom prst="rect">
            <a:avLst/>
          </a:prstGeom>
          <a:noFill/>
        </p:spPr>
        <p:txBody>
          <a:bodyPr wrap="square" lIns="36576" tIns="36576" rIns="36576" bIns="36576" anchor="t">
            <a:spAutoFit/>
          </a:bodyPr>
          <a:lstStyle/>
          <a:p>
            <a:pPr algn="ctr"/>
            <a:r>
              <a:rPr sz="2000" b="1" i="0" dirty="0" err="1">
                <a:solidFill>
                  <a:srgbClr val="147C7C"/>
                </a:solidFill>
                <a:latin typeface="Calibri"/>
              </a:rPr>
              <a:t>R</a:t>
            </a:r>
            <a:r>
              <a:rPr lang="en-US" sz="2000" b="1" i="0" dirty="0" err="1">
                <a:solidFill>
                  <a:srgbClr val="147C7C"/>
                </a:solidFill>
                <a:latin typeface="Calibri"/>
              </a:rPr>
              <a:t>E</a:t>
            </a:r>
            <a:r>
              <a:rPr sz="2000" b="0" i="0" dirty="0" err="1">
                <a:solidFill>
                  <a:srgbClr val="147C7C"/>
                </a:solidFill>
                <a:latin typeface="Calibri"/>
              </a:rPr>
              <a:t>commending</a:t>
            </a:r>
            <a:r>
              <a:rPr sz="2000" b="0" i="0" dirty="0">
                <a:solidFill>
                  <a:srgbClr val="147C7C"/>
                </a:solidFill>
                <a:latin typeface="Calibri"/>
              </a:rPr>
              <a:t> Evidence-based </a:t>
            </a:r>
            <a:r>
              <a:rPr sz="2000" b="1" i="0" dirty="0" err="1">
                <a:solidFill>
                  <a:srgbClr val="147C7C"/>
                </a:solidFill>
                <a:latin typeface="Calibri"/>
              </a:rPr>
              <a:t>S</a:t>
            </a:r>
            <a:r>
              <a:rPr lang="en-US" sz="2000" b="1" i="0" dirty="0" err="1">
                <a:solidFill>
                  <a:srgbClr val="147C7C"/>
                </a:solidFill>
                <a:latin typeface="Calibri"/>
              </a:rPr>
              <a:t>O</a:t>
            </a:r>
            <a:r>
              <a:rPr sz="2000" b="0" i="0" dirty="0" err="1">
                <a:solidFill>
                  <a:srgbClr val="147C7C"/>
                </a:solidFill>
                <a:latin typeface="Calibri"/>
              </a:rPr>
              <a:t>undscape</a:t>
            </a:r>
            <a:r>
              <a:rPr sz="2000" b="0" i="0" dirty="0">
                <a:solidFill>
                  <a:srgbClr val="147C7C"/>
                </a:solidFill>
                <a:latin typeface="Calibri"/>
              </a:rPr>
              <a:t> </a:t>
            </a:r>
            <a:r>
              <a:rPr sz="2000" b="0" i="0" dirty="0" err="1">
                <a:solidFill>
                  <a:srgbClr val="147C7C"/>
                </a:solidFill>
                <a:latin typeface="Calibri"/>
              </a:rPr>
              <a:t>interventi</a:t>
            </a:r>
            <a:r>
              <a:rPr lang="en-US" sz="2000" dirty="0" err="1">
                <a:solidFill>
                  <a:srgbClr val="147C7C"/>
                </a:solidFill>
                <a:latin typeface="Calibri"/>
              </a:rPr>
              <a:t>o</a:t>
            </a:r>
            <a:r>
              <a:rPr sz="2000" b="1" i="0" dirty="0" err="1">
                <a:solidFill>
                  <a:srgbClr val="147C7C"/>
                </a:solidFill>
                <a:latin typeface="Calibri"/>
              </a:rPr>
              <a:t>N</a:t>
            </a:r>
            <a:r>
              <a:rPr sz="2000" b="0" i="0" dirty="0" err="1">
                <a:solidFill>
                  <a:srgbClr val="147C7C"/>
                </a:solidFill>
                <a:latin typeface="Calibri"/>
              </a:rPr>
              <a:t>s</a:t>
            </a:r>
            <a:r>
              <a:rPr sz="2000" b="0" i="0" dirty="0">
                <a:solidFill>
                  <a:srgbClr val="147C7C"/>
                </a:solidFill>
                <a:latin typeface="Calibri"/>
              </a:rPr>
              <a:t> for noise-sensitive </a:t>
            </a:r>
            <a:r>
              <a:rPr sz="2000" b="0" i="0" dirty="0" err="1">
                <a:solidFill>
                  <a:srgbClr val="147C7C"/>
                </a:solidFill>
                <a:latin typeface="Calibri"/>
              </a:rPr>
              <a:t>urb</a:t>
            </a:r>
            <a:r>
              <a:rPr sz="2000" b="1" i="0" dirty="0" err="1">
                <a:solidFill>
                  <a:srgbClr val="147C7C"/>
                </a:solidFill>
                <a:latin typeface="Calibri"/>
              </a:rPr>
              <a:t>A</a:t>
            </a:r>
            <a:r>
              <a:rPr sz="2000" b="0" i="0" dirty="0" err="1">
                <a:solidFill>
                  <a:srgbClr val="147C7C"/>
                </a:solidFill>
                <a:latin typeface="Calibri"/>
              </a:rPr>
              <a:t>n</a:t>
            </a:r>
            <a:r>
              <a:rPr sz="2000" b="0" i="0" dirty="0">
                <a:solidFill>
                  <a:srgbClr val="147C7C"/>
                </a:solidFill>
                <a:latin typeface="Calibri"/>
              </a:rPr>
              <a:t> </a:t>
            </a:r>
            <a:r>
              <a:rPr sz="2000" b="1" i="0" dirty="0" err="1">
                <a:solidFill>
                  <a:srgbClr val="147C7C"/>
                </a:solidFill>
                <a:latin typeface="Calibri"/>
              </a:rPr>
              <a:t>TE</a:t>
            </a:r>
            <a:r>
              <a:rPr sz="2000" b="0" i="0" dirty="0" err="1">
                <a:solidFill>
                  <a:srgbClr val="147C7C"/>
                </a:solidFill>
                <a:latin typeface="Calibri"/>
              </a:rPr>
              <a:t>rritories</a:t>
            </a:r>
            <a:endParaRPr sz="2000" b="0" i="0" dirty="0">
              <a:solidFill>
                <a:srgbClr val="147C7C"/>
              </a:solidFill>
              <a:latin typeface="Calibri"/>
            </a:endParaRPr>
          </a:p>
        </p:txBody>
      </p:sp>
      <p:sp>
        <p:nvSpPr>
          <p:cNvPr id="5" name="TextBox 4"/>
          <p:cNvSpPr txBox="1"/>
          <p:nvPr/>
        </p:nvSpPr>
        <p:spPr>
          <a:xfrm>
            <a:off x="1463040" y="3063240"/>
            <a:ext cx="9235440" cy="548640"/>
          </a:xfrm>
          <a:prstGeom prst="rect">
            <a:avLst/>
          </a:prstGeom>
          <a:noFill/>
        </p:spPr>
        <p:txBody>
          <a:bodyPr wrap="square" lIns="36576" tIns="36576" rIns="36576" bIns="36576" anchor="t">
            <a:spAutoFit/>
          </a:bodyPr>
          <a:lstStyle/>
          <a:p>
            <a:pPr algn="ctr"/>
            <a:r>
              <a:rPr sz="1500" b="0" i="1">
                <a:solidFill>
                  <a:srgbClr val="1F2937"/>
                </a:solidFill>
                <a:latin typeface="Calibri"/>
              </a:rPr>
              <a:t>An AI neighbourhood acoustic twin that tells cities what to change around schools, hospitals and care homes</a:t>
            </a:r>
          </a:p>
        </p:txBody>
      </p:sp>
      <p:sp>
        <p:nvSpPr>
          <p:cNvPr id="6" name="TextBox 5"/>
          <p:cNvSpPr txBox="1"/>
          <p:nvPr/>
        </p:nvSpPr>
        <p:spPr>
          <a:xfrm>
            <a:off x="1097280" y="3840480"/>
            <a:ext cx="9966960" cy="411480"/>
          </a:xfrm>
          <a:prstGeom prst="rect">
            <a:avLst/>
          </a:prstGeom>
          <a:noFill/>
        </p:spPr>
        <p:txBody>
          <a:bodyPr wrap="square" lIns="36576" tIns="36576" rIns="36576" bIns="36576" anchor="t">
            <a:spAutoFit/>
          </a:bodyPr>
          <a:lstStyle/>
          <a:p>
            <a:pPr algn="ctr"/>
            <a:r>
              <a:rPr sz="1400" b="1" i="0">
                <a:solidFill>
                  <a:srgbClr val="1C5694"/>
                </a:solidFill>
                <a:latin typeface="Calibri"/>
              </a:rPr>
              <a:t>Imperial College London   ·   Politecnico di Milano   ·   Technical University of Munich</a:t>
            </a:r>
          </a:p>
        </p:txBody>
      </p:sp>
      <p:sp>
        <p:nvSpPr>
          <p:cNvPr id="7" name="TextBox 6"/>
          <p:cNvSpPr txBox="1"/>
          <p:nvPr/>
        </p:nvSpPr>
        <p:spPr>
          <a:xfrm>
            <a:off x="1097280" y="4206240"/>
            <a:ext cx="9966960" cy="365760"/>
          </a:xfrm>
          <a:prstGeom prst="rect">
            <a:avLst/>
          </a:prstGeom>
          <a:noFill/>
        </p:spPr>
        <p:txBody>
          <a:bodyPr wrap="square" lIns="36576" tIns="36576" rIns="36576" bIns="36576" anchor="t">
            <a:spAutoFit/>
          </a:bodyPr>
          <a:lstStyle/>
          <a:p>
            <a:pPr algn="ctr"/>
            <a:r>
              <a:rPr sz="1300" b="0" i="0">
                <a:solidFill>
                  <a:srgbClr val="5B6775"/>
                </a:solidFill>
                <a:latin typeface="Calibri"/>
              </a:rPr>
              <a:t>Dipankar Bhattacharya   ·   Simone Perottoni   ·   Sandra Rojas-Botero</a:t>
            </a:r>
          </a:p>
        </p:txBody>
      </p:sp>
      <p:grpSp>
        <p:nvGrpSpPr>
          <p:cNvPr id="11" name="Group 10">
            <a:extLst>
              <a:ext uri="{FF2B5EF4-FFF2-40B4-BE49-F238E27FC236}">
                <a16:creationId xmlns:a16="http://schemas.microsoft.com/office/drawing/2014/main" id="{5CE8E003-8FC0-5942-24EF-F98CA5CD5F40}"/>
              </a:ext>
            </a:extLst>
          </p:cNvPr>
          <p:cNvGrpSpPr/>
          <p:nvPr/>
        </p:nvGrpSpPr>
        <p:grpSpPr>
          <a:xfrm>
            <a:off x="60111" y="66791"/>
            <a:ext cx="12022650" cy="685801"/>
            <a:chOff x="-521364" y="59814"/>
            <a:chExt cx="12022650" cy="685801"/>
          </a:xfrm>
        </p:grpSpPr>
        <p:pic>
          <p:nvPicPr>
            <p:cNvPr id="8" name="Picture 7">
              <a:extLst>
                <a:ext uri="{FF2B5EF4-FFF2-40B4-BE49-F238E27FC236}">
                  <a16:creationId xmlns:a16="http://schemas.microsoft.com/office/drawing/2014/main" id="{3EB76A31-3DD8-7B56-A956-7A3DE098CA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95215" y="59814"/>
              <a:ext cx="931952" cy="685801"/>
            </a:xfrm>
            <a:prstGeom prst="rect">
              <a:avLst/>
            </a:prstGeom>
          </p:spPr>
        </p:pic>
        <p:pic>
          <p:nvPicPr>
            <p:cNvPr id="9" name="Picture 8">
              <a:extLst>
                <a:ext uri="{FF2B5EF4-FFF2-40B4-BE49-F238E27FC236}">
                  <a16:creationId xmlns:a16="http://schemas.microsoft.com/office/drawing/2014/main" id="{0C075214-C8B7-5E50-3E84-4FE0953CAF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1364" y="100346"/>
              <a:ext cx="1525698" cy="167827"/>
            </a:xfrm>
            <a:prstGeom prst="rect">
              <a:avLst/>
            </a:prstGeom>
          </p:spPr>
        </p:pic>
        <p:pic>
          <p:nvPicPr>
            <p:cNvPr id="10" name="Picture 9">
              <a:extLst>
                <a:ext uri="{FF2B5EF4-FFF2-40B4-BE49-F238E27FC236}">
                  <a16:creationId xmlns:a16="http://schemas.microsoft.com/office/drawing/2014/main" id="{A7AEF407-222E-D37E-B147-857724BB5FC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569334" y="160019"/>
              <a:ext cx="931952" cy="485392"/>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201168"/>
            <a:ext cx="11430000" cy="320088"/>
          </a:xfrm>
          <a:prstGeom prst="rect">
            <a:avLst/>
          </a:prstGeom>
          <a:noFill/>
        </p:spPr>
        <p:txBody>
          <a:bodyPr wrap="square" lIns="36576" tIns="36576" rIns="36576" bIns="36576" anchor="t">
            <a:spAutoFit/>
          </a:bodyPr>
          <a:lstStyle/>
          <a:p>
            <a:pPr algn="l"/>
            <a:r>
              <a:rPr sz="1600" b="1" i="0" dirty="0">
                <a:solidFill>
                  <a:srgbClr val="147C7C"/>
                </a:solidFill>
                <a:latin typeface="Calibri"/>
              </a:rPr>
              <a:t>THE PROBLEM AND OUR RESEARCH QUESTION</a:t>
            </a:r>
          </a:p>
        </p:txBody>
      </p:sp>
      <p:sp>
        <p:nvSpPr>
          <p:cNvPr id="3" name="TextBox 2"/>
          <p:cNvSpPr txBox="1"/>
          <p:nvPr/>
        </p:nvSpPr>
        <p:spPr>
          <a:xfrm>
            <a:off x="365760" y="457200"/>
            <a:ext cx="7973568" cy="473976"/>
          </a:xfrm>
          <a:prstGeom prst="rect">
            <a:avLst/>
          </a:prstGeom>
          <a:noFill/>
        </p:spPr>
        <p:txBody>
          <a:bodyPr wrap="square" lIns="36576" tIns="36576" rIns="36576" bIns="36576" anchor="t">
            <a:spAutoFit/>
          </a:bodyPr>
          <a:lstStyle/>
          <a:p>
            <a:pPr algn="l"/>
            <a:r>
              <a:rPr sz="2600" b="1" i="0">
                <a:solidFill>
                  <a:srgbClr val="1C5694"/>
                </a:solidFill>
                <a:latin typeface="Calibri"/>
              </a:rPr>
              <a:t>Noise is mapped, but nobody is told what to do about it</a:t>
            </a:r>
          </a:p>
        </p:txBody>
      </p:sp>
      <p:pic>
        <p:nvPicPr>
          <p:cNvPr id="4" name="Picture 3" descr="result (12).jpeg"/>
          <p:cNvPicPr>
            <a:picLocks noChangeAspect="1"/>
          </p:cNvPicPr>
          <p:nvPr/>
        </p:nvPicPr>
        <p:blipFill>
          <a:blip r:embed="rId3"/>
          <a:stretch>
            <a:fillRect/>
          </a:stretch>
        </p:blipFill>
        <p:spPr>
          <a:xfrm>
            <a:off x="365760" y="1097280"/>
            <a:ext cx="3931920" cy="2194560"/>
          </a:xfrm>
          <a:prstGeom prst="rect">
            <a:avLst/>
          </a:prstGeom>
        </p:spPr>
      </p:pic>
      <p:pic>
        <p:nvPicPr>
          <p:cNvPr id="5" name="Picture 4" descr="result2.jpeg"/>
          <p:cNvPicPr>
            <a:picLocks noChangeAspect="1"/>
          </p:cNvPicPr>
          <p:nvPr/>
        </p:nvPicPr>
        <p:blipFill>
          <a:blip r:embed="rId4"/>
          <a:stretch>
            <a:fillRect/>
          </a:stretch>
        </p:blipFill>
        <p:spPr>
          <a:xfrm>
            <a:off x="4407408" y="1097280"/>
            <a:ext cx="3931920" cy="2194560"/>
          </a:xfrm>
          <a:prstGeom prst="rect">
            <a:avLst/>
          </a:prstGeom>
        </p:spPr>
      </p:pic>
      <p:sp>
        <p:nvSpPr>
          <p:cNvPr id="6" name="Rounded Rectangle 5"/>
          <p:cNvSpPr/>
          <p:nvPr/>
        </p:nvSpPr>
        <p:spPr>
          <a:xfrm>
            <a:off x="438912" y="1161288"/>
            <a:ext cx="1188720" cy="256032"/>
          </a:xfrm>
          <a:prstGeom prst="roundRect">
            <a:avLst>
              <a:gd name="adj" fmla="val 50000"/>
            </a:avLst>
          </a:prstGeom>
          <a:solidFill>
            <a:srgbClr val="1C56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 name="TextBox 6"/>
          <p:cNvSpPr txBox="1"/>
          <p:nvPr/>
        </p:nvSpPr>
        <p:spPr>
          <a:xfrm>
            <a:off x="438912" y="1166194"/>
            <a:ext cx="1188720" cy="246221"/>
          </a:xfrm>
          <a:prstGeom prst="rect">
            <a:avLst/>
          </a:prstGeom>
          <a:noFill/>
        </p:spPr>
        <p:txBody>
          <a:bodyPr wrap="square" lIns="0" tIns="0" rIns="0" bIns="0" anchor="ctr">
            <a:spAutoFit/>
          </a:bodyPr>
          <a:lstStyle/>
          <a:p>
            <a:pPr algn="ctr"/>
            <a:r>
              <a:rPr sz="1600" b="1" i="0" dirty="0">
                <a:solidFill>
                  <a:srgbClr val="FFFFFF"/>
                </a:solidFill>
                <a:latin typeface="Calibri"/>
              </a:rPr>
              <a:t>Who suffers</a:t>
            </a:r>
          </a:p>
        </p:txBody>
      </p:sp>
      <p:sp>
        <p:nvSpPr>
          <p:cNvPr id="8" name="Rounded Rectangle 7"/>
          <p:cNvSpPr/>
          <p:nvPr/>
        </p:nvSpPr>
        <p:spPr>
          <a:xfrm>
            <a:off x="4480560" y="1161288"/>
            <a:ext cx="1143000" cy="256032"/>
          </a:xfrm>
          <a:prstGeom prst="roundRect">
            <a:avLst>
              <a:gd name="adj" fmla="val 50000"/>
            </a:avLst>
          </a:prstGeom>
          <a:solidFill>
            <a:srgbClr val="1C56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9" name="TextBox 8"/>
          <p:cNvSpPr txBox="1"/>
          <p:nvPr/>
        </p:nvSpPr>
        <p:spPr>
          <a:xfrm>
            <a:off x="4480560" y="1181582"/>
            <a:ext cx="1143000" cy="215444"/>
          </a:xfrm>
          <a:prstGeom prst="rect">
            <a:avLst/>
          </a:prstGeom>
          <a:noFill/>
        </p:spPr>
        <p:txBody>
          <a:bodyPr wrap="square" lIns="0" tIns="0" rIns="0" bIns="0" anchor="ctr">
            <a:spAutoFit/>
          </a:bodyPr>
          <a:lstStyle/>
          <a:p>
            <a:pPr algn="ctr"/>
            <a:r>
              <a:rPr sz="1400" b="1" i="0" dirty="0">
                <a:solidFill>
                  <a:srgbClr val="FFFFFF"/>
                </a:solidFill>
                <a:latin typeface="Calibri"/>
              </a:rPr>
              <a:t>Maps exist ...</a:t>
            </a:r>
          </a:p>
        </p:txBody>
      </p:sp>
      <p:sp>
        <p:nvSpPr>
          <p:cNvPr id="10" name="Rounded Rectangle 9"/>
          <p:cNvSpPr/>
          <p:nvPr/>
        </p:nvSpPr>
        <p:spPr>
          <a:xfrm>
            <a:off x="6675120" y="1161288"/>
            <a:ext cx="1554480" cy="256032"/>
          </a:xfrm>
          <a:prstGeom prst="roundRect">
            <a:avLst>
              <a:gd name="adj" fmla="val 50000"/>
            </a:avLst>
          </a:prstGeom>
          <a:solidFill>
            <a:srgbClr val="CA6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1" name="TextBox 10"/>
          <p:cNvSpPr txBox="1"/>
          <p:nvPr/>
        </p:nvSpPr>
        <p:spPr>
          <a:xfrm>
            <a:off x="6675120" y="1181582"/>
            <a:ext cx="1554480" cy="215444"/>
          </a:xfrm>
          <a:prstGeom prst="rect">
            <a:avLst/>
          </a:prstGeom>
          <a:noFill/>
        </p:spPr>
        <p:txBody>
          <a:bodyPr wrap="square" lIns="0" tIns="0" rIns="0" bIns="0" anchor="ctr">
            <a:spAutoFit/>
          </a:bodyPr>
          <a:lstStyle/>
          <a:p>
            <a:pPr algn="ctr"/>
            <a:r>
              <a:rPr sz="1400" b="1" i="0" dirty="0">
                <a:solidFill>
                  <a:srgbClr val="FFFFFF"/>
                </a:solidFill>
                <a:latin typeface="Calibri"/>
              </a:rPr>
              <a:t>... decisions don't</a:t>
            </a:r>
          </a:p>
        </p:txBody>
      </p:sp>
      <p:sp>
        <p:nvSpPr>
          <p:cNvPr id="12" name="Rounded Rectangle 11"/>
          <p:cNvSpPr/>
          <p:nvPr/>
        </p:nvSpPr>
        <p:spPr>
          <a:xfrm>
            <a:off x="8476488" y="1097280"/>
            <a:ext cx="3346704" cy="416052"/>
          </a:xfrm>
          <a:prstGeom prst="roundRect">
            <a:avLst>
              <a:gd name="adj" fmla="val 20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49640" y="1097280"/>
            <a:ext cx="777240" cy="416052"/>
          </a:xfrm>
          <a:prstGeom prst="rect">
            <a:avLst/>
          </a:prstGeom>
          <a:noFill/>
        </p:spPr>
        <p:txBody>
          <a:bodyPr wrap="square" lIns="0" tIns="0" rIns="0" bIns="0" anchor="ctr">
            <a:spAutoFit/>
          </a:bodyPr>
          <a:lstStyle/>
          <a:p>
            <a:pPr algn="ctr"/>
            <a:r>
              <a:rPr sz="1600" b="1" i="0">
                <a:solidFill>
                  <a:srgbClr val="CA6C1C"/>
                </a:solidFill>
                <a:latin typeface="Calibri"/>
              </a:rPr>
              <a:t>1 in 5</a:t>
            </a:r>
          </a:p>
        </p:txBody>
      </p:sp>
      <p:sp>
        <p:nvSpPr>
          <p:cNvPr id="14" name="TextBox 13"/>
          <p:cNvSpPr txBox="1"/>
          <p:nvPr/>
        </p:nvSpPr>
        <p:spPr>
          <a:xfrm>
            <a:off x="9345167" y="1102174"/>
            <a:ext cx="2414016" cy="406265"/>
          </a:xfrm>
          <a:prstGeom prst="rect">
            <a:avLst/>
          </a:prstGeom>
          <a:noFill/>
        </p:spPr>
        <p:txBody>
          <a:bodyPr wrap="square" lIns="18288" tIns="18288" rIns="18288" bIns="18288" anchor="ctr">
            <a:spAutoFit/>
          </a:bodyPr>
          <a:lstStyle/>
          <a:p>
            <a:pPr algn="l"/>
            <a:r>
              <a:rPr sz="1200" b="0" i="0" dirty="0">
                <a:solidFill>
                  <a:srgbClr val="1F2937"/>
                </a:solidFill>
                <a:latin typeface="Calibri"/>
              </a:rPr>
              <a:t>Europeans live with harmful road noise</a:t>
            </a:r>
          </a:p>
        </p:txBody>
      </p:sp>
      <p:sp>
        <p:nvSpPr>
          <p:cNvPr id="15" name="Rounded Rectangle 14"/>
          <p:cNvSpPr/>
          <p:nvPr/>
        </p:nvSpPr>
        <p:spPr>
          <a:xfrm>
            <a:off x="8476488" y="1540764"/>
            <a:ext cx="3346704" cy="416052"/>
          </a:xfrm>
          <a:prstGeom prst="roundRect">
            <a:avLst>
              <a:gd name="adj" fmla="val 20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49640" y="1540764"/>
            <a:ext cx="777240" cy="416052"/>
          </a:xfrm>
          <a:prstGeom prst="rect">
            <a:avLst/>
          </a:prstGeom>
          <a:noFill/>
        </p:spPr>
        <p:txBody>
          <a:bodyPr wrap="square" lIns="0" tIns="0" rIns="0" bIns="0" anchor="ctr">
            <a:spAutoFit/>
          </a:bodyPr>
          <a:lstStyle/>
          <a:p>
            <a:pPr algn="ctr"/>
            <a:r>
              <a:rPr sz="1600" b="1" i="0">
                <a:solidFill>
                  <a:srgbClr val="CA6C1C"/>
                </a:solidFill>
                <a:latin typeface="Calibri"/>
              </a:rPr>
              <a:t>#2</a:t>
            </a:r>
          </a:p>
        </p:txBody>
      </p:sp>
      <p:sp>
        <p:nvSpPr>
          <p:cNvPr id="17" name="TextBox 16"/>
          <p:cNvSpPr txBox="1"/>
          <p:nvPr/>
        </p:nvSpPr>
        <p:spPr>
          <a:xfrm>
            <a:off x="9345167" y="1545658"/>
            <a:ext cx="2414016" cy="406265"/>
          </a:xfrm>
          <a:prstGeom prst="rect">
            <a:avLst/>
          </a:prstGeom>
          <a:noFill/>
        </p:spPr>
        <p:txBody>
          <a:bodyPr wrap="square" lIns="18288" tIns="18288" rIns="18288" bIns="18288" anchor="ctr">
            <a:spAutoFit/>
          </a:bodyPr>
          <a:lstStyle/>
          <a:p>
            <a:pPr algn="l"/>
            <a:r>
              <a:rPr sz="1200" b="0" i="0">
                <a:solidFill>
                  <a:srgbClr val="1F2937"/>
                </a:solidFill>
                <a:latin typeface="Calibri"/>
              </a:rPr>
              <a:t>environmental health risk in Europe (EEA)</a:t>
            </a:r>
          </a:p>
        </p:txBody>
      </p:sp>
      <p:sp>
        <p:nvSpPr>
          <p:cNvPr id="18" name="Rounded Rectangle 17"/>
          <p:cNvSpPr/>
          <p:nvPr/>
        </p:nvSpPr>
        <p:spPr>
          <a:xfrm>
            <a:off x="8476488" y="1984248"/>
            <a:ext cx="3346704" cy="416052"/>
          </a:xfrm>
          <a:prstGeom prst="roundRect">
            <a:avLst>
              <a:gd name="adj" fmla="val 20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49640" y="1984248"/>
            <a:ext cx="777240" cy="416052"/>
          </a:xfrm>
          <a:prstGeom prst="rect">
            <a:avLst/>
          </a:prstGeom>
          <a:noFill/>
        </p:spPr>
        <p:txBody>
          <a:bodyPr wrap="square" lIns="0" tIns="0" rIns="0" bIns="0" anchor="ctr">
            <a:spAutoFit/>
          </a:bodyPr>
          <a:lstStyle/>
          <a:p>
            <a:pPr algn="ctr"/>
            <a:r>
              <a:rPr sz="1600" b="1" i="0">
                <a:solidFill>
                  <a:srgbClr val="CA6C1C"/>
                </a:solidFill>
                <a:latin typeface="Calibri"/>
              </a:rPr>
              <a:t>0</a:t>
            </a:r>
          </a:p>
        </p:txBody>
      </p:sp>
      <p:sp>
        <p:nvSpPr>
          <p:cNvPr id="20" name="TextBox 19"/>
          <p:cNvSpPr txBox="1"/>
          <p:nvPr/>
        </p:nvSpPr>
        <p:spPr>
          <a:xfrm>
            <a:off x="9345167" y="1989142"/>
            <a:ext cx="2414016" cy="406265"/>
          </a:xfrm>
          <a:prstGeom prst="rect">
            <a:avLst/>
          </a:prstGeom>
          <a:noFill/>
        </p:spPr>
        <p:txBody>
          <a:bodyPr wrap="square" lIns="18288" tIns="18288" rIns="18288" bIns="18288" anchor="ctr">
            <a:spAutoFit/>
          </a:bodyPr>
          <a:lstStyle/>
          <a:p>
            <a:pPr algn="l"/>
            <a:r>
              <a:rPr sz="1200" b="0" i="0">
                <a:solidFill>
                  <a:srgbClr val="1F2937"/>
                </a:solidFill>
                <a:latin typeface="Calibri"/>
              </a:rPr>
              <a:t>EU noise limit values or reduction targets</a:t>
            </a:r>
          </a:p>
        </p:txBody>
      </p:sp>
      <p:sp>
        <p:nvSpPr>
          <p:cNvPr id="21" name="Rounded Rectangle 20"/>
          <p:cNvSpPr/>
          <p:nvPr/>
        </p:nvSpPr>
        <p:spPr>
          <a:xfrm>
            <a:off x="8476488" y="2427732"/>
            <a:ext cx="3346704" cy="416052"/>
          </a:xfrm>
          <a:prstGeom prst="roundRect">
            <a:avLst>
              <a:gd name="adj" fmla="val 20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49640" y="2427732"/>
            <a:ext cx="777240" cy="416052"/>
          </a:xfrm>
          <a:prstGeom prst="rect">
            <a:avLst/>
          </a:prstGeom>
          <a:noFill/>
        </p:spPr>
        <p:txBody>
          <a:bodyPr wrap="square" lIns="0" tIns="0" rIns="0" bIns="0" anchor="ctr">
            <a:spAutoFit/>
          </a:bodyPr>
          <a:lstStyle/>
          <a:p>
            <a:pPr algn="ctr"/>
            <a:r>
              <a:rPr sz="1600" b="1" i="0">
                <a:solidFill>
                  <a:srgbClr val="1C5694"/>
                </a:solidFill>
                <a:latin typeface="Calibri"/>
              </a:rPr>
              <a:t>43</a:t>
            </a:r>
          </a:p>
        </p:txBody>
      </p:sp>
      <p:sp>
        <p:nvSpPr>
          <p:cNvPr id="23" name="TextBox 22"/>
          <p:cNvSpPr txBox="1"/>
          <p:nvPr/>
        </p:nvSpPr>
        <p:spPr>
          <a:xfrm>
            <a:off x="9345167" y="2432625"/>
            <a:ext cx="2414016" cy="406265"/>
          </a:xfrm>
          <a:prstGeom prst="rect">
            <a:avLst/>
          </a:prstGeom>
          <a:noFill/>
        </p:spPr>
        <p:txBody>
          <a:bodyPr wrap="square" lIns="18288" tIns="18288" rIns="18288" bIns="18288" anchor="ctr">
            <a:spAutoFit/>
          </a:bodyPr>
          <a:lstStyle/>
          <a:p>
            <a:pPr algn="l"/>
            <a:r>
              <a:rPr sz="1200" b="0" i="0">
                <a:solidFill>
                  <a:srgbClr val="1F2937"/>
                </a:solidFill>
                <a:latin typeface="Calibri"/>
              </a:rPr>
              <a:t>intervention studies report health outcomes: too few to learn from</a:t>
            </a:r>
          </a:p>
        </p:txBody>
      </p:sp>
      <p:sp>
        <p:nvSpPr>
          <p:cNvPr id="24" name="Rounded Rectangle 23"/>
          <p:cNvSpPr/>
          <p:nvPr/>
        </p:nvSpPr>
        <p:spPr>
          <a:xfrm>
            <a:off x="8476488" y="2871215"/>
            <a:ext cx="3346704" cy="416052"/>
          </a:xfrm>
          <a:prstGeom prst="roundRect">
            <a:avLst>
              <a:gd name="adj" fmla="val 20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549640" y="2871215"/>
            <a:ext cx="777240" cy="416052"/>
          </a:xfrm>
          <a:prstGeom prst="rect">
            <a:avLst/>
          </a:prstGeom>
          <a:noFill/>
        </p:spPr>
        <p:txBody>
          <a:bodyPr wrap="square" lIns="0" tIns="0" rIns="0" bIns="0" anchor="ctr">
            <a:spAutoFit/>
          </a:bodyPr>
          <a:lstStyle/>
          <a:p>
            <a:pPr algn="ctr"/>
            <a:r>
              <a:rPr sz="1600" b="1" i="0">
                <a:solidFill>
                  <a:srgbClr val="1C5694"/>
                </a:solidFill>
                <a:latin typeface="Calibri"/>
              </a:rPr>
              <a:t>?</a:t>
            </a:r>
          </a:p>
        </p:txBody>
      </p:sp>
      <p:sp>
        <p:nvSpPr>
          <p:cNvPr id="26" name="TextBox 25"/>
          <p:cNvSpPr txBox="1"/>
          <p:nvPr/>
        </p:nvSpPr>
        <p:spPr>
          <a:xfrm>
            <a:off x="9345167" y="2876108"/>
            <a:ext cx="2414016" cy="406265"/>
          </a:xfrm>
          <a:prstGeom prst="rect">
            <a:avLst/>
          </a:prstGeom>
          <a:noFill/>
        </p:spPr>
        <p:txBody>
          <a:bodyPr wrap="square" lIns="18288" tIns="18288" rIns="18288" bIns="18288" anchor="ctr">
            <a:spAutoFit/>
          </a:bodyPr>
          <a:lstStyle/>
          <a:p>
            <a:pPr algn="l"/>
            <a:r>
              <a:rPr sz="1200" b="0" i="0">
                <a:solidFill>
                  <a:srgbClr val="1F2937"/>
                </a:solidFill>
                <a:latin typeface="Calibri"/>
              </a:rPr>
              <a:t>Trees, green wall, low-noise surface or 20 mph: which, where?</a:t>
            </a:r>
          </a:p>
        </p:txBody>
      </p:sp>
      <p:sp>
        <p:nvSpPr>
          <p:cNvPr id="27" name="TextBox 26"/>
          <p:cNvSpPr txBox="1"/>
          <p:nvPr/>
        </p:nvSpPr>
        <p:spPr>
          <a:xfrm>
            <a:off x="365760" y="3378684"/>
            <a:ext cx="11457432" cy="320088"/>
          </a:xfrm>
          <a:prstGeom prst="rect">
            <a:avLst/>
          </a:prstGeom>
          <a:noFill/>
        </p:spPr>
        <p:txBody>
          <a:bodyPr wrap="square" lIns="36576" tIns="36576" rIns="36576" bIns="36576" anchor="ctr">
            <a:spAutoFit/>
          </a:bodyPr>
          <a:lstStyle/>
          <a:p>
            <a:pPr algn="ctr"/>
            <a:r>
              <a:rPr sz="1600" b="1" i="0" dirty="0">
                <a:solidFill>
                  <a:srgbClr val="CA6C1C"/>
                </a:solidFill>
                <a:latin typeface="Calibri"/>
              </a:rPr>
              <a:t>The missing step:  </a:t>
            </a:r>
            <a:r>
              <a:rPr sz="1600" b="0" i="0" dirty="0">
                <a:solidFill>
                  <a:srgbClr val="1F2937"/>
                </a:solidFill>
                <a:latin typeface="Calibri"/>
              </a:rPr>
              <a:t>from “where is it loud?” to “what should we build, plant or change, and where?”</a:t>
            </a:r>
          </a:p>
        </p:txBody>
      </p:sp>
      <p:sp>
        <p:nvSpPr>
          <p:cNvPr id="28" name="Rounded Rectangle 27"/>
          <p:cNvSpPr/>
          <p:nvPr/>
        </p:nvSpPr>
        <p:spPr>
          <a:xfrm>
            <a:off x="365760" y="3794760"/>
            <a:ext cx="11457432" cy="987552"/>
          </a:xfrm>
          <a:prstGeom prst="roundRect">
            <a:avLst>
              <a:gd name="adj" fmla="val 12000"/>
            </a:avLst>
          </a:prstGeom>
          <a:solidFill>
            <a:srgbClr val="1C56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94360" y="3840480"/>
            <a:ext cx="2743200" cy="320088"/>
          </a:xfrm>
          <a:prstGeom prst="rect">
            <a:avLst/>
          </a:prstGeom>
          <a:noFill/>
        </p:spPr>
        <p:txBody>
          <a:bodyPr wrap="square" lIns="36576" tIns="36576" rIns="36576" bIns="36576" anchor="t">
            <a:spAutoFit/>
          </a:bodyPr>
          <a:lstStyle/>
          <a:p>
            <a:pPr algn="l"/>
            <a:r>
              <a:rPr sz="1600" b="1" i="0" dirty="0">
                <a:solidFill>
                  <a:srgbClr val="BFE3E3"/>
                </a:solidFill>
                <a:latin typeface="Calibri"/>
              </a:rPr>
              <a:t>RESEARCH QUESTION</a:t>
            </a:r>
          </a:p>
        </p:txBody>
      </p:sp>
      <p:sp>
        <p:nvSpPr>
          <p:cNvPr id="30" name="TextBox 29"/>
          <p:cNvSpPr txBox="1"/>
          <p:nvPr/>
        </p:nvSpPr>
        <p:spPr>
          <a:xfrm>
            <a:off x="594360" y="4069080"/>
            <a:ext cx="11018520" cy="676656"/>
          </a:xfrm>
          <a:prstGeom prst="rect">
            <a:avLst/>
          </a:prstGeom>
          <a:noFill/>
        </p:spPr>
        <p:txBody>
          <a:bodyPr wrap="square" lIns="36576" tIns="36576" rIns="36576" bIns="36576" anchor="ctr">
            <a:spAutoFit/>
          </a:bodyPr>
          <a:lstStyle/>
          <a:p>
            <a:pPr algn="l"/>
            <a:r>
              <a:rPr sz="1700" b="0" i="0" dirty="0">
                <a:solidFill>
                  <a:srgbClr val="FFFFFF"/>
                </a:solidFill>
                <a:latin typeface="Calibri"/>
              </a:rPr>
              <a:t>Can we build a predictive tool that tells cities which interventions will reduce noise and improve how people experience sound around schools, hospitals and care homes?</a:t>
            </a:r>
          </a:p>
        </p:txBody>
      </p:sp>
      <p:sp>
        <p:nvSpPr>
          <p:cNvPr id="31" name="Rounded Rectangle 30"/>
          <p:cNvSpPr/>
          <p:nvPr/>
        </p:nvSpPr>
        <p:spPr>
          <a:xfrm>
            <a:off x="338328" y="4941856"/>
            <a:ext cx="11457432" cy="621792"/>
          </a:xfrm>
          <a:prstGeom prst="roundRect">
            <a:avLst>
              <a:gd name="adj" fmla="val 15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530352" y="5103487"/>
            <a:ext cx="731520" cy="292608"/>
          </a:xfrm>
          <a:prstGeom prst="roundRect">
            <a:avLst>
              <a:gd name="adj" fmla="val 50000"/>
            </a:avLst>
          </a:prstGeom>
          <a:solidFill>
            <a:srgbClr val="147C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30352" y="5112572"/>
            <a:ext cx="731520" cy="246221"/>
          </a:xfrm>
          <a:prstGeom prst="rect">
            <a:avLst/>
          </a:prstGeom>
          <a:noFill/>
        </p:spPr>
        <p:txBody>
          <a:bodyPr wrap="square" lIns="0" tIns="0" rIns="0" bIns="0" anchor="ctr">
            <a:spAutoFit/>
          </a:bodyPr>
          <a:lstStyle/>
          <a:p>
            <a:pPr algn="ctr"/>
            <a:r>
              <a:rPr sz="1600" b="1" i="0" dirty="0">
                <a:solidFill>
                  <a:srgbClr val="FFFFFF"/>
                </a:solidFill>
                <a:latin typeface="Calibri"/>
              </a:rPr>
              <a:t>AIM</a:t>
            </a:r>
          </a:p>
        </p:txBody>
      </p:sp>
      <p:sp>
        <p:nvSpPr>
          <p:cNvPr id="34" name="TextBox 33"/>
          <p:cNvSpPr txBox="1"/>
          <p:nvPr/>
        </p:nvSpPr>
        <p:spPr>
          <a:xfrm>
            <a:off x="1417320" y="4947993"/>
            <a:ext cx="10287000" cy="627864"/>
          </a:xfrm>
          <a:prstGeom prst="rect">
            <a:avLst/>
          </a:prstGeom>
          <a:noFill/>
        </p:spPr>
        <p:txBody>
          <a:bodyPr wrap="square" lIns="36576" tIns="36576" rIns="36576" bIns="36576" anchor="ctr">
            <a:spAutoFit/>
          </a:bodyPr>
          <a:lstStyle/>
          <a:p>
            <a:pPr algn="l"/>
            <a:r>
              <a:rPr b="0" i="0" dirty="0">
                <a:solidFill>
                  <a:srgbClr val="1F2937"/>
                </a:solidFill>
                <a:latin typeface="Calibri"/>
              </a:rPr>
              <a:t>Develop and validate </a:t>
            </a:r>
            <a:r>
              <a:rPr b="1" i="0" dirty="0">
                <a:solidFill>
                  <a:srgbClr val="1C5694"/>
                </a:solidFill>
                <a:latin typeface="Calibri"/>
              </a:rPr>
              <a:t>RESONATE</a:t>
            </a:r>
            <a:r>
              <a:rPr b="0" i="0" dirty="0">
                <a:solidFill>
                  <a:srgbClr val="1F2937"/>
                </a:solidFill>
                <a:latin typeface="Calibri"/>
              </a:rPr>
              <a:t>, a transferable AI decision tool that turns </a:t>
            </a:r>
            <a:r>
              <a:rPr b="0" i="0" dirty="0" err="1">
                <a:solidFill>
                  <a:srgbClr val="1F2937"/>
                </a:solidFill>
                <a:latin typeface="Calibri"/>
              </a:rPr>
              <a:t>neighbourhood</a:t>
            </a:r>
            <a:r>
              <a:rPr b="0" i="0" dirty="0">
                <a:solidFill>
                  <a:srgbClr val="1F2937"/>
                </a:solidFill>
                <a:latin typeface="Calibri"/>
              </a:rPr>
              <a:t> sound and context into a ranked portfolio of interventions for noise-sensitive buildings.</a:t>
            </a:r>
          </a:p>
        </p:txBody>
      </p:sp>
      <p:sp>
        <p:nvSpPr>
          <p:cNvPr id="37" name="TextBox 36"/>
          <p:cNvSpPr txBox="1"/>
          <p:nvPr/>
        </p:nvSpPr>
        <p:spPr>
          <a:xfrm>
            <a:off x="3064933" y="5819822"/>
            <a:ext cx="1415627" cy="320088"/>
          </a:xfrm>
          <a:prstGeom prst="rect">
            <a:avLst/>
          </a:prstGeom>
          <a:noFill/>
        </p:spPr>
        <p:txBody>
          <a:bodyPr wrap="square" lIns="36576" tIns="36576" rIns="36576" bIns="36576" anchor="ctr">
            <a:spAutoFit/>
          </a:bodyPr>
          <a:lstStyle/>
          <a:p>
            <a:pPr algn="l"/>
            <a:r>
              <a:rPr sz="1600" b="1" i="0" dirty="0">
                <a:solidFill>
                  <a:srgbClr val="1F2937"/>
                </a:solidFill>
                <a:latin typeface="Calibri"/>
              </a:rPr>
              <a:t>So we model:</a:t>
            </a:r>
          </a:p>
        </p:txBody>
      </p:sp>
      <p:sp>
        <p:nvSpPr>
          <p:cNvPr id="38" name="Rounded Rectangle 37"/>
          <p:cNvSpPr/>
          <p:nvPr/>
        </p:nvSpPr>
        <p:spPr>
          <a:xfrm>
            <a:off x="4480560" y="5819846"/>
            <a:ext cx="1234440" cy="412396"/>
          </a:xfrm>
          <a:prstGeom prst="roundRect">
            <a:avLst>
              <a:gd name="adj" fmla="val 50000"/>
            </a:avLst>
          </a:prstGeom>
          <a:solidFill>
            <a:srgbClr val="CA6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9" name="TextBox 38"/>
          <p:cNvSpPr txBox="1"/>
          <p:nvPr/>
        </p:nvSpPr>
        <p:spPr>
          <a:xfrm>
            <a:off x="4480560" y="5876716"/>
            <a:ext cx="1234440" cy="215444"/>
          </a:xfrm>
          <a:prstGeom prst="rect">
            <a:avLst/>
          </a:prstGeom>
          <a:noFill/>
        </p:spPr>
        <p:txBody>
          <a:bodyPr wrap="square" lIns="0" tIns="0" rIns="0" bIns="0" anchor="ctr">
            <a:spAutoFit/>
          </a:bodyPr>
          <a:lstStyle/>
          <a:p>
            <a:pPr algn="ctr"/>
            <a:r>
              <a:rPr sz="1400" b="1" i="0" dirty="0">
                <a:solidFill>
                  <a:srgbClr val="FFFFFF"/>
                </a:solidFill>
                <a:latin typeface="Calibri"/>
              </a:rPr>
              <a:t>Noise sources</a:t>
            </a:r>
          </a:p>
        </p:txBody>
      </p:sp>
      <p:sp>
        <p:nvSpPr>
          <p:cNvPr id="40" name="Rounded Rectangle 39"/>
          <p:cNvSpPr/>
          <p:nvPr/>
        </p:nvSpPr>
        <p:spPr>
          <a:xfrm>
            <a:off x="5806440" y="5819846"/>
            <a:ext cx="1143000" cy="412396"/>
          </a:xfrm>
          <a:prstGeom prst="roundRect">
            <a:avLst>
              <a:gd name="adj" fmla="val 50000"/>
            </a:avLst>
          </a:prstGeom>
          <a:solidFill>
            <a:srgbClr val="147C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1" name="TextBox 40"/>
          <p:cNvSpPr txBox="1"/>
          <p:nvPr/>
        </p:nvSpPr>
        <p:spPr>
          <a:xfrm>
            <a:off x="5801868" y="5897690"/>
            <a:ext cx="1143000" cy="215444"/>
          </a:xfrm>
          <a:prstGeom prst="rect">
            <a:avLst/>
          </a:prstGeom>
          <a:noFill/>
        </p:spPr>
        <p:txBody>
          <a:bodyPr wrap="square" lIns="0" tIns="0" rIns="0" bIns="0" anchor="ctr">
            <a:spAutoFit/>
          </a:bodyPr>
          <a:lstStyle/>
          <a:p>
            <a:pPr algn="ctr"/>
            <a:r>
              <a:rPr sz="1400" b="1" i="0" dirty="0">
                <a:solidFill>
                  <a:srgbClr val="FFFFFF"/>
                </a:solidFill>
                <a:latin typeface="Calibri"/>
              </a:rPr>
              <a:t>Perception</a:t>
            </a:r>
          </a:p>
        </p:txBody>
      </p:sp>
      <p:sp>
        <p:nvSpPr>
          <p:cNvPr id="42" name="Rounded Rectangle 41"/>
          <p:cNvSpPr/>
          <p:nvPr/>
        </p:nvSpPr>
        <p:spPr>
          <a:xfrm>
            <a:off x="7022591" y="5805358"/>
            <a:ext cx="2066376" cy="412397"/>
          </a:xfrm>
          <a:prstGeom prst="roundRect">
            <a:avLst>
              <a:gd name="adj" fmla="val 50000"/>
            </a:avLst>
          </a:prstGeom>
          <a:solidFill>
            <a:srgbClr val="2A8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3" name="TextBox 42"/>
          <p:cNvSpPr txBox="1"/>
          <p:nvPr/>
        </p:nvSpPr>
        <p:spPr>
          <a:xfrm>
            <a:off x="7075251" y="5904973"/>
            <a:ext cx="1977475" cy="215444"/>
          </a:xfrm>
          <a:prstGeom prst="rect">
            <a:avLst/>
          </a:prstGeom>
          <a:noFill/>
        </p:spPr>
        <p:txBody>
          <a:bodyPr wrap="square" lIns="0" tIns="0" rIns="0" bIns="0" anchor="ctr">
            <a:spAutoFit/>
          </a:bodyPr>
          <a:lstStyle/>
          <a:p>
            <a:pPr algn="ctr"/>
            <a:r>
              <a:rPr sz="1400" b="1" i="0" dirty="0" err="1">
                <a:solidFill>
                  <a:srgbClr val="FFFFFF"/>
                </a:solidFill>
                <a:latin typeface="Calibri"/>
              </a:rPr>
              <a:t>Neighbourhood</a:t>
            </a:r>
            <a:r>
              <a:rPr sz="1400" b="1" i="0" dirty="0">
                <a:solidFill>
                  <a:srgbClr val="FFFFFF"/>
                </a:solidFill>
                <a:latin typeface="Calibri"/>
              </a:rPr>
              <a:t> features</a:t>
            </a:r>
          </a:p>
        </p:txBody>
      </p:sp>
      <p:sp>
        <p:nvSpPr>
          <p:cNvPr id="44" name="TextBox 43"/>
          <p:cNvSpPr txBox="1"/>
          <p:nvPr/>
        </p:nvSpPr>
        <p:spPr>
          <a:xfrm>
            <a:off x="365760" y="6473952"/>
            <a:ext cx="7315200" cy="274320"/>
          </a:xfrm>
          <a:prstGeom prst="rect">
            <a:avLst/>
          </a:prstGeom>
          <a:noFill/>
        </p:spPr>
        <p:txBody>
          <a:bodyPr wrap="square" lIns="36576" tIns="36576" rIns="36576" bIns="36576" anchor="t">
            <a:spAutoFit/>
          </a:bodyPr>
          <a:lstStyle/>
          <a:p>
            <a:pPr algn="l"/>
            <a:r>
              <a:rPr sz="900" b="0" i="0">
                <a:solidFill>
                  <a:srgbClr val="5B6775"/>
                </a:solidFill>
                <a:latin typeface="Calibri"/>
              </a:rPr>
              <a:t>RESONATE  ·  Imperial College London  ·  Politecnico di Milano  ·  TU Munich</a:t>
            </a:r>
          </a:p>
        </p:txBody>
      </p:sp>
      <p:sp>
        <p:nvSpPr>
          <p:cNvPr id="45" name="TextBox 44"/>
          <p:cNvSpPr txBox="1"/>
          <p:nvPr/>
        </p:nvSpPr>
        <p:spPr>
          <a:xfrm>
            <a:off x="10881360" y="6473952"/>
            <a:ext cx="914400" cy="274320"/>
          </a:xfrm>
          <a:prstGeom prst="rect">
            <a:avLst/>
          </a:prstGeom>
          <a:noFill/>
        </p:spPr>
        <p:txBody>
          <a:bodyPr wrap="square" lIns="36576" tIns="36576" rIns="36576" bIns="36576" anchor="t">
            <a:spAutoFit/>
          </a:bodyPr>
          <a:lstStyle/>
          <a:p>
            <a:pPr algn="r"/>
            <a:r>
              <a:rPr sz="900" b="0" i="0">
                <a:solidFill>
                  <a:srgbClr val="5B6775"/>
                </a:solidFill>
                <a:latin typeface="Calibri"/>
              </a:rP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201168"/>
            <a:ext cx="11430000" cy="320088"/>
          </a:xfrm>
          <a:prstGeom prst="rect">
            <a:avLst/>
          </a:prstGeom>
          <a:noFill/>
        </p:spPr>
        <p:txBody>
          <a:bodyPr wrap="square" lIns="36576" tIns="36576" rIns="36576" bIns="36576" anchor="t">
            <a:spAutoFit/>
          </a:bodyPr>
          <a:lstStyle/>
          <a:p>
            <a:pPr algn="l"/>
            <a:r>
              <a:rPr sz="1600" b="1" i="0" dirty="0">
                <a:solidFill>
                  <a:srgbClr val="147C7C"/>
                </a:solidFill>
                <a:latin typeface="Calibri"/>
              </a:rPr>
              <a:t>OBJECTIVES, HOW IT WORKS AND WHO WE ARE</a:t>
            </a:r>
          </a:p>
        </p:txBody>
      </p:sp>
      <p:sp>
        <p:nvSpPr>
          <p:cNvPr id="3" name="TextBox 2"/>
          <p:cNvSpPr txBox="1"/>
          <p:nvPr/>
        </p:nvSpPr>
        <p:spPr>
          <a:xfrm>
            <a:off x="365760" y="457200"/>
            <a:ext cx="11430000" cy="548640"/>
          </a:xfrm>
          <a:prstGeom prst="rect">
            <a:avLst/>
          </a:prstGeom>
          <a:noFill/>
        </p:spPr>
        <p:txBody>
          <a:bodyPr wrap="square" lIns="36576" tIns="36576" rIns="36576" bIns="36576" anchor="t">
            <a:spAutoFit/>
          </a:bodyPr>
          <a:lstStyle/>
          <a:p>
            <a:pPr algn="l"/>
            <a:r>
              <a:rPr sz="2600" b="1" i="0" dirty="0">
                <a:solidFill>
                  <a:srgbClr val="1C5694"/>
                </a:solidFill>
                <a:latin typeface="Calibri"/>
              </a:rPr>
              <a:t>An acoustic twin that prescribes interventions and learns from living labs</a:t>
            </a:r>
          </a:p>
        </p:txBody>
      </p:sp>
      <p:pic>
        <p:nvPicPr>
          <p:cNvPr id="4" name="Picture 3" descr="result3.jpeg"/>
          <p:cNvPicPr>
            <a:picLocks noChangeAspect="1"/>
          </p:cNvPicPr>
          <p:nvPr/>
        </p:nvPicPr>
        <p:blipFill>
          <a:blip r:embed="rId3"/>
          <a:stretch>
            <a:fillRect/>
          </a:stretch>
        </p:blipFill>
        <p:spPr>
          <a:xfrm>
            <a:off x="822960" y="1051560"/>
            <a:ext cx="6675120" cy="3725648"/>
          </a:xfrm>
          <a:prstGeom prst="rect">
            <a:avLst/>
          </a:prstGeom>
        </p:spPr>
      </p:pic>
      <p:sp>
        <p:nvSpPr>
          <p:cNvPr id="5" name="TextBox 4"/>
          <p:cNvSpPr txBox="1"/>
          <p:nvPr/>
        </p:nvSpPr>
        <p:spPr>
          <a:xfrm>
            <a:off x="997599" y="1216497"/>
            <a:ext cx="1067243" cy="806375"/>
          </a:xfrm>
          <a:prstGeom prst="rect">
            <a:avLst/>
          </a:prstGeom>
          <a:noFill/>
        </p:spPr>
        <p:txBody>
          <a:bodyPr wrap="square" lIns="18288" tIns="18288" rIns="18288" bIns="18288" anchor="t">
            <a:spAutoFit/>
          </a:bodyPr>
          <a:lstStyle/>
          <a:p>
            <a:pPr algn="l"/>
            <a:r>
              <a:rPr sz="1400" b="1" i="0" dirty="0">
                <a:solidFill>
                  <a:srgbClr val="1C5694"/>
                </a:solidFill>
                <a:latin typeface="Calibri"/>
              </a:rPr>
              <a:t>1 OBSERVE</a:t>
            </a:r>
          </a:p>
          <a:p>
            <a:pPr algn="l"/>
            <a:r>
              <a:rPr sz="1200" b="0" i="0" dirty="0">
                <a:solidFill>
                  <a:srgbClr val="1F2937"/>
                </a:solidFill>
                <a:latin typeface="Calibri"/>
              </a:rPr>
              <a:t>Sensors, soundwalks, street features</a:t>
            </a:r>
          </a:p>
        </p:txBody>
      </p:sp>
      <p:sp>
        <p:nvSpPr>
          <p:cNvPr id="6" name="TextBox 5"/>
          <p:cNvSpPr txBox="1"/>
          <p:nvPr/>
        </p:nvSpPr>
        <p:spPr>
          <a:xfrm>
            <a:off x="6338664" y="1216497"/>
            <a:ext cx="1028435" cy="575542"/>
          </a:xfrm>
          <a:prstGeom prst="rect">
            <a:avLst/>
          </a:prstGeom>
          <a:noFill/>
        </p:spPr>
        <p:txBody>
          <a:bodyPr wrap="square" lIns="18288" tIns="18288" rIns="18288" bIns="18288" anchor="t">
            <a:spAutoFit/>
          </a:bodyPr>
          <a:lstStyle/>
          <a:p>
            <a:pPr algn="l"/>
            <a:r>
              <a:rPr sz="1400" b="1" i="0" dirty="0">
                <a:solidFill>
                  <a:srgbClr val="147C7C"/>
                </a:solidFill>
                <a:latin typeface="Calibri"/>
              </a:rPr>
              <a:t>2 TWIN</a:t>
            </a:r>
          </a:p>
          <a:p>
            <a:pPr algn="l"/>
            <a:r>
              <a:rPr sz="1050" b="0" i="0" dirty="0">
                <a:solidFill>
                  <a:srgbClr val="1F2937"/>
                </a:solidFill>
                <a:latin typeface="Calibri"/>
              </a:rPr>
              <a:t>Measured + perceived sound</a:t>
            </a:r>
          </a:p>
        </p:txBody>
      </p:sp>
      <p:sp>
        <p:nvSpPr>
          <p:cNvPr id="7" name="TextBox 6"/>
          <p:cNvSpPr txBox="1"/>
          <p:nvPr/>
        </p:nvSpPr>
        <p:spPr>
          <a:xfrm>
            <a:off x="6243198" y="3922776"/>
            <a:ext cx="1028435" cy="575542"/>
          </a:xfrm>
          <a:prstGeom prst="rect">
            <a:avLst/>
          </a:prstGeom>
          <a:noFill/>
        </p:spPr>
        <p:txBody>
          <a:bodyPr wrap="square" lIns="18288" tIns="18288" rIns="18288" bIns="18288" anchor="t">
            <a:spAutoFit/>
          </a:bodyPr>
          <a:lstStyle/>
          <a:p>
            <a:pPr algn="l"/>
            <a:r>
              <a:rPr sz="1400" b="1" i="0" dirty="0">
                <a:solidFill>
                  <a:srgbClr val="1C5694"/>
                </a:solidFill>
                <a:latin typeface="Calibri"/>
              </a:rPr>
              <a:t>3 PRESCRIBE</a:t>
            </a:r>
          </a:p>
          <a:p>
            <a:pPr algn="l"/>
            <a:r>
              <a:rPr sz="1050" b="0" i="0" dirty="0">
                <a:solidFill>
                  <a:srgbClr val="1F2937"/>
                </a:solidFill>
                <a:latin typeface="Calibri"/>
              </a:rPr>
              <a:t>AI ranks the options</a:t>
            </a:r>
          </a:p>
        </p:txBody>
      </p:sp>
      <p:sp>
        <p:nvSpPr>
          <p:cNvPr id="8" name="TextBox 7"/>
          <p:cNvSpPr txBox="1"/>
          <p:nvPr/>
        </p:nvSpPr>
        <p:spPr>
          <a:xfrm>
            <a:off x="1148974" y="3789340"/>
            <a:ext cx="915868" cy="790986"/>
          </a:xfrm>
          <a:prstGeom prst="rect">
            <a:avLst/>
          </a:prstGeom>
          <a:noFill/>
        </p:spPr>
        <p:txBody>
          <a:bodyPr wrap="square" lIns="18288" tIns="18288" rIns="18288" bIns="18288" anchor="t">
            <a:spAutoFit/>
          </a:bodyPr>
          <a:lstStyle/>
          <a:p>
            <a:r>
              <a:rPr sz="1400" b="1" i="0" dirty="0">
                <a:solidFill>
                  <a:srgbClr val="2A8450"/>
                </a:solidFill>
                <a:latin typeface="Calibri"/>
              </a:rPr>
              <a:t>4 LIVING LAB</a:t>
            </a:r>
          </a:p>
          <a:p>
            <a:r>
              <a:rPr sz="1050" b="0" i="0" dirty="0">
                <a:solidFill>
                  <a:srgbClr val="1F2937"/>
                </a:solidFill>
                <a:latin typeface="Calibri"/>
              </a:rPr>
              <a:t>Co-implement in 3 cities</a:t>
            </a:r>
          </a:p>
        </p:txBody>
      </p:sp>
      <p:sp>
        <p:nvSpPr>
          <p:cNvPr id="9" name="TextBox 8"/>
          <p:cNvSpPr txBox="1"/>
          <p:nvPr/>
        </p:nvSpPr>
        <p:spPr>
          <a:xfrm>
            <a:off x="320040" y="4756600"/>
            <a:ext cx="2743200" cy="320088"/>
          </a:xfrm>
          <a:prstGeom prst="rect">
            <a:avLst/>
          </a:prstGeom>
          <a:noFill/>
        </p:spPr>
        <p:txBody>
          <a:bodyPr wrap="square" lIns="36576" tIns="36576" rIns="36576" bIns="36576" anchor="t">
            <a:spAutoFit/>
          </a:bodyPr>
          <a:lstStyle/>
          <a:p>
            <a:pPr algn="l"/>
            <a:r>
              <a:rPr sz="1600" b="1" i="0" dirty="0">
                <a:solidFill>
                  <a:srgbClr val="147C7C"/>
                </a:solidFill>
                <a:latin typeface="Calibri"/>
              </a:rPr>
              <a:t>THREE OBJECTIVES</a:t>
            </a:r>
          </a:p>
        </p:txBody>
      </p:sp>
      <p:sp>
        <p:nvSpPr>
          <p:cNvPr id="10" name="Rounded Rectangle 9"/>
          <p:cNvSpPr/>
          <p:nvPr/>
        </p:nvSpPr>
        <p:spPr>
          <a:xfrm>
            <a:off x="320040" y="5065775"/>
            <a:ext cx="2487168" cy="1316736"/>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5065775"/>
            <a:ext cx="2487168" cy="64008"/>
          </a:xfrm>
          <a:prstGeom prst="rect">
            <a:avLst/>
          </a:prstGeom>
          <a:solidFill>
            <a:srgbClr val="1C56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11479" y="5202936"/>
            <a:ext cx="329184" cy="329184"/>
          </a:xfrm>
          <a:prstGeom prst="ellipse">
            <a:avLst/>
          </a:prstGeom>
          <a:solidFill>
            <a:srgbClr val="1C56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1479" y="5202936"/>
            <a:ext cx="329184" cy="329184"/>
          </a:xfrm>
          <a:prstGeom prst="rect">
            <a:avLst/>
          </a:prstGeom>
          <a:noFill/>
        </p:spPr>
        <p:txBody>
          <a:bodyPr wrap="square" lIns="0" tIns="0" rIns="0" bIns="0" anchor="ctr">
            <a:spAutoFit/>
          </a:bodyPr>
          <a:lstStyle/>
          <a:p>
            <a:pPr algn="ctr"/>
            <a:r>
              <a:rPr sz="1200" b="1" i="0">
                <a:solidFill>
                  <a:srgbClr val="FFFFFF"/>
                </a:solidFill>
                <a:latin typeface="Calibri"/>
              </a:rPr>
              <a:t>1</a:t>
            </a:r>
          </a:p>
        </p:txBody>
      </p:sp>
      <p:sp>
        <p:nvSpPr>
          <p:cNvPr id="14" name="TextBox 13"/>
          <p:cNvSpPr txBox="1"/>
          <p:nvPr/>
        </p:nvSpPr>
        <p:spPr>
          <a:xfrm>
            <a:off x="795528" y="5157215"/>
            <a:ext cx="1956816" cy="420624"/>
          </a:xfrm>
          <a:prstGeom prst="rect">
            <a:avLst/>
          </a:prstGeom>
          <a:noFill/>
        </p:spPr>
        <p:txBody>
          <a:bodyPr wrap="square" lIns="18288" tIns="18288" rIns="18288" bIns="18288" anchor="ctr">
            <a:spAutoFit/>
          </a:bodyPr>
          <a:lstStyle/>
          <a:p>
            <a:pPr algn="l"/>
            <a:r>
              <a:rPr sz="1200" b="1" i="0" dirty="0">
                <a:solidFill>
                  <a:srgbClr val="1C5694"/>
                </a:solidFill>
                <a:latin typeface="Calibri"/>
              </a:rPr>
              <a:t>OBSERVE</a:t>
            </a:r>
            <a:r>
              <a:rPr sz="1200" b="1" i="0" dirty="0">
                <a:solidFill>
                  <a:srgbClr val="1F2937"/>
                </a:solidFill>
                <a:latin typeface="Calibri"/>
              </a:rPr>
              <a:t>  Gather the information</a:t>
            </a:r>
          </a:p>
        </p:txBody>
      </p:sp>
      <p:sp>
        <p:nvSpPr>
          <p:cNvPr id="15" name="TextBox 14"/>
          <p:cNvSpPr txBox="1"/>
          <p:nvPr/>
        </p:nvSpPr>
        <p:spPr>
          <a:xfrm>
            <a:off x="534924" y="5560311"/>
            <a:ext cx="2304288" cy="812530"/>
          </a:xfrm>
          <a:prstGeom prst="rect">
            <a:avLst/>
          </a:prstGeom>
          <a:noFill/>
        </p:spPr>
        <p:txBody>
          <a:bodyPr wrap="square" lIns="36576" tIns="36576" rIns="36576" bIns="36576" anchor="t">
            <a:spAutoFit/>
          </a:bodyPr>
          <a:lstStyle/>
          <a:p>
            <a:pPr algn="l"/>
            <a:r>
              <a:rPr sz="1200" b="0" i="0" dirty="0">
                <a:solidFill>
                  <a:srgbClr val="1F2937"/>
                </a:solidFill>
                <a:latin typeface="Calibri"/>
              </a:rPr>
              <a:t>Living-lab monitoring of sound levels and sources, street typology, morphology and vegetation, and residents' perception.</a:t>
            </a:r>
          </a:p>
        </p:txBody>
      </p:sp>
      <p:sp>
        <p:nvSpPr>
          <p:cNvPr id="16" name="Rounded Rectangle 15"/>
          <p:cNvSpPr/>
          <p:nvPr/>
        </p:nvSpPr>
        <p:spPr>
          <a:xfrm>
            <a:off x="2916936" y="5065775"/>
            <a:ext cx="2487168" cy="1316736"/>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916936" y="5065775"/>
            <a:ext cx="2487168" cy="64008"/>
          </a:xfrm>
          <a:prstGeom prst="rect">
            <a:avLst/>
          </a:prstGeom>
          <a:solidFill>
            <a:srgbClr val="147C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3008376" y="5202936"/>
            <a:ext cx="329184" cy="329184"/>
          </a:xfrm>
          <a:prstGeom prst="ellipse">
            <a:avLst/>
          </a:prstGeom>
          <a:solidFill>
            <a:srgbClr val="147C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008376" y="5202936"/>
            <a:ext cx="329184" cy="329184"/>
          </a:xfrm>
          <a:prstGeom prst="rect">
            <a:avLst/>
          </a:prstGeom>
          <a:noFill/>
        </p:spPr>
        <p:txBody>
          <a:bodyPr wrap="square" lIns="0" tIns="0" rIns="0" bIns="0" anchor="ctr">
            <a:spAutoFit/>
          </a:bodyPr>
          <a:lstStyle/>
          <a:p>
            <a:pPr algn="ctr"/>
            <a:r>
              <a:rPr sz="1200" b="1" i="0">
                <a:solidFill>
                  <a:srgbClr val="FFFFFF"/>
                </a:solidFill>
                <a:latin typeface="Calibri"/>
              </a:rPr>
              <a:t>2</a:t>
            </a:r>
          </a:p>
        </p:txBody>
      </p:sp>
      <p:sp>
        <p:nvSpPr>
          <p:cNvPr id="20" name="TextBox 19"/>
          <p:cNvSpPr txBox="1"/>
          <p:nvPr/>
        </p:nvSpPr>
        <p:spPr>
          <a:xfrm>
            <a:off x="3392424" y="5256727"/>
            <a:ext cx="1956816" cy="221599"/>
          </a:xfrm>
          <a:prstGeom prst="rect">
            <a:avLst/>
          </a:prstGeom>
          <a:noFill/>
        </p:spPr>
        <p:txBody>
          <a:bodyPr wrap="square" lIns="18288" tIns="18288" rIns="18288" bIns="18288" anchor="ctr">
            <a:spAutoFit/>
          </a:bodyPr>
          <a:lstStyle/>
          <a:p>
            <a:pPr algn="l"/>
            <a:r>
              <a:rPr sz="1200" b="1" i="0" dirty="0">
                <a:solidFill>
                  <a:srgbClr val="147C7C"/>
                </a:solidFill>
                <a:latin typeface="Calibri"/>
              </a:rPr>
              <a:t>TWIN</a:t>
            </a:r>
            <a:r>
              <a:rPr sz="1200" b="1" i="0" dirty="0">
                <a:solidFill>
                  <a:srgbClr val="1F2937"/>
                </a:solidFill>
                <a:latin typeface="Calibri"/>
              </a:rPr>
              <a:t>  Build the twin</a:t>
            </a:r>
          </a:p>
        </p:txBody>
      </p:sp>
      <p:sp>
        <p:nvSpPr>
          <p:cNvPr id="21" name="TextBox 20"/>
          <p:cNvSpPr txBox="1"/>
          <p:nvPr/>
        </p:nvSpPr>
        <p:spPr>
          <a:xfrm>
            <a:off x="3221736" y="5549583"/>
            <a:ext cx="2304288" cy="812530"/>
          </a:xfrm>
          <a:prstGeom prst="rect">
            <a:avLst/>
          </a:prstGeom>
          <a:noFill/>
        </p:spPr>
        <p:txBody>
          <a:bodyPr wrap="square" lIns="36576" tIns="36576" rIns="36576" bIns="36576" anchor="t">
            <a:spAutoFit/>
          </a:bodyPr>
          <a:lstStyle/>
          <a:p>
            <a:pPr algn="l"/>
            <a:r>
              <a:rPr sz="1200" b="0" i="0" dirty="0">
                <a:solidFill>
                  <a:srgbClr val="1F2937"/>
                </a:solidFill>
                <a:latin typeface="Calibri"/>
              </a:rPr>
              <a:t>A physics-based </a:t>
            </a:r>
            <a:r>
              <a:rPr sz="1200" b="0" i="0" dirty="0" err="1">
                <a:solidFill>
                  <a:srgbClr val="1F2937"/>
                </a:solidFill>
                <a:latin typeface="Calibri"/>
              </a:rPr>
              <a:t>neighbourhood</a:t>
            </a:r>
            <a:r>
              <a:rPr sz="1200" b="0" i="0" dirty="0">
                <a:solidFill>
                  <a:srgbClr val="1F2937"/>
                </a:solidFill>
                <a:latin typeface="Calibri"/>
              </a:rPr>
              <a:t> twin, calibrated; predicts what is measured (dB) and what is felt (annoyance, masking).</a:t>
            </a:r>
          </a:p>
        </p:txBody>
      </p:sp>
      <p:sp>
        <p:nvSpPr>
          <p:cNvPr id="22" name="Rounded Rectangle 21"/>
          <p:cNvSpPr/>
          <p:nvPr/>
        </p:nvSpPr>
        <p:spPr>
          <a:xfrm>
            <a:off x="5513832" y="5065775"/>
            <a:ext cx="2487168" cy="1316736"/>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513832" y="5065775"/>
            <a:ext cx="2487168" cy="64008"/>
          </a:xfrm>
          <a:prstGeom prst="rect">
            <a:avLst/>
          </a:prstGeom>
          <a:solidFill>
            <a:srgbClr val="2A8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605272" y="5202936"/>
            <a:ext cx="329184" cy="329184"/>
          </a:xfrm>
          <a:prstGeom prst="ellipse">
            <a:avLst/>
          </a:prstGeom>
          <a:solidFill>
            <a:srgbClr val="2A8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605272" y="5202936"/>
            <a:ext cx="329184" cy="329184"/>
          </a:xfrm>
          <a:prstGeom prst="rect">
            <a:avLst/>
          </a:prstGeom>
          <a:noFill/>
        </p:spPr>
        <p:txBody>
          <a:bodyPr wrap="square" lIns="0" tIns="0" rIns="0" bIns="0" anchor="ctr">
            <a:spAutoFit/>
          </a:bodyPr>
          <a:lstStyle/>
          <a:p>
            <a:pPr algn="ctr"/>
            <a:r>
              <a:rPr sz="1200" b="1" i="0">
                <a:solidFill>
                  <a:srgbClr val="FFFFFF"/>
                </a:solidFill>
                <a:latin typeface="Calibri"/>
              </a:rPr>
              <a:t>3</a:t>
            </a:r>
          </a:p>
        </p:txBody>
      </p:sp>
      <p:sp>
        <p:nvSpPr>
          <p:cNvPr id="26" name="TextBox 25"/>
          <p:cNvSpPr txBox="1"/>
          <p:nvPr/>
        </p:nvSpPr>
        <p:spPr>
          <a:xfrm>
            <a:off x="5989320" y="5256727"/>
            <a:ext cx="1956816" cy="221599"/>
          </a:xfrm>
          <a:prstGeom prst="rect">
            <a:avLst/>
          </a:prstGeom>
          <a:noFill/>
        </p:spPr>
        <p:txBody>
          <a:bodyPr wrap="square" lIns="18288" tIns="18288" rIns="18288" bIns="18288" anchor="ctr">
            <a:spAutoFit/>
          </a:bodyPr>
          <a:lstStyle/>
          <a:p>
            <a:pPr algn="l"/>
            <a:r>
              <a:rPr sz="1200" b="1" i="0" dirty="0">
                <a:solidFill>
                  <a:srgbClr val="2A8450"/>
                </a:solidFill>
                <a:latin typeface="Calibri"/>
              </a:rPr>
              <a:t>PRESCRIBE</a:t>
            </a:r>
            <a:r>
              <a:rPr sz="1200" b="1" i="0" dirty="0">
                <a:solidFill>
                  <a:srgbClr val="1F2937"/>
                </a:solidFill>
                <a:latin typeface="Calibri"/>
              </a:rPr>
              <a:t>  Use it to decide</a:t>
            </a:r>
          </a:p>
        </p:txBody>
      </p:sp>
      <p:sp>
        <p:nvSpPr>
          <p:cNvPr id="27" name="TextBox 26"/>
          <p:cNvSpPr txBox="1"/>
          <p:nvPr/>
        </p:nvSpPr>
        <p:spPr>
          <a:xfrm>
            <a:off x="5852160" y="5431036"/>
            <a:ext cx="2304288" cy="997196"/>
          </a:xfrm>
          <a:prstGeom prst="rect">
            <a:avLst/>
          </a:prstGeom>
          <a:noFill/>
        </p:spPr>
        <p:txBody>
          <a:bodyPr wrap="square" lIns="36576" tIns="36576" rIns="36576" bIns="36576" anchor="t">
            <a:spAutoFit/>
          </a:bodyPr>
          <a:lstStyle/>
          <a:p>
            <a:pPr algn="l"/>
            <a:r>
              <a:rPr sz="1200" b="0" i="0" dirty="0">
                <a:solidFill>
                  <a:srgbClr val="1F2937"/>
                </a:solidFill>
                <a:latin typeface="Calibri"/>
              </a:rPr>
              <a:t>A ranked, costed portfolio per site (trees, green walls, low-noise surface, speed, barriers) with predicted gain and confidence; tested in living labs.</a:t>
            </a:r>
          </a:p>
        </p:txBody>
      </p:sp>
      <p:sp>
        <p:nvSpPr>
          <p:cNvPr id="28" name="TextBox 27"/>
          <p:cNvSpPr txBox="1"/>
          <p:nvPr/>
        </p:nvSpPr>
        <p:spPr>
          <a:xfrm>
            <a:off x="8211312" y="1051560"/>
            <a:ext cx="3611880" cy="274320"/>
          </a:xfrm>
          <a:prstGeom prst="rect">
            <a:avLst/>
          </a:prstGeom>
          <a:noFill/>
        </p:spPr>
        <p:txBody>
          <a:bodyPr wrap="square" lIns="36576" tIns="36576" rIns="36576" bIns="36576" anchor="t">
            <a:spAutoFit/>
          </a:bodyPr>
          <a:lstStyle/>
          <a:p>
            <a:pPr algn="l"/>
            <a:r>
              <a:rPr sz="1100" b="1" i="0">
                <a:solidFill>
                  <a:srgbClr val="147C7C"/>
                </a:solidFill>
                <a:latin typeface="Calibri"/>
              </a:rPr>
              <a:t>THE TEAM</a:t>
            </a:r>
          </a:p>
        </p:txBody>
      </p:sp>
      <p:sp>
        <p:nvSpPr>
          <p:cNvPr id="29" name="Rounded Rectangle 28"/>
          <p:cNvSpPr/>
          <p:nvPr/>
        </p:nvSpPr>
        <p:spPr>
          <a:xfrm>
            <a:off x="8211312" y="1325880"/>
            <a:ext cx="3611880" cy="786384"/>
          </a:xfrm>
          <a:prstGeom prst="roundRect">
            <a:avLst>
              <a:gd name="adj" fmla="val 12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302752" y="1497473"/>
            <a:ext cx="3447288" cy="443198"/>
          </a:xfrm>
          <a:prstGeom prst="rect">
            <a:avLst/>
          </a:prstGeom>
          <a:noFill/>
        </p:spPr>
        <p:txBody>
          <a:bodyPr wrap="square" lIns="36576" tIns="36576" rIns="36576" bIns="36576" anchor="ctr">
            <a:spAutoFit/>
          </a:bodyPr>
          <a:lstStyle/>
          <a:p>
            <a:pPr algn="l"/>
            <a:r>
              <a:rPr sz="1200" b="1" i="0" dirty="0">
                <a:solidFill>
                  <a:srgbClr val="1C5694"/>
                </a:solidFill>
                <a:latin typeface="Calibri"/>
              </a:rPr>
              <a:t>Dipankar Bhattacharya</a:t>
            </a:r>
            <a:r>
              <a:rPr sz="1200" b="0" i="0" dirty="0">
                <a:solidFill>
                  <a:srgbClr val="5B6775"/>
                </a:solidFill>
                <a:latin typeface="Calibri"/>
              </a:rPr>
              <a:t>  Imperial College London</a:t>
            </a:r>
          </a:p>
          <a:p>
            <a:pPr algn="l"/>
            <a:r>
              <a:rPr sz="1200" b="0" i="0" dirty="0">
                <a:solidFill>
                  <a:srgbClr val="1F2937"/>
                </a:solidFill>
                <a:latin typeface="Calibri"/>
              </a:rPr>
              <a:t>AI and autonomous systems</a:t>
            </a:r>
          </a:p>
        </p:txBody>
      </p:sp>
      <p:sp>
        <p:nvSpPr>
          <p:cNvPr id="33" name="Rounded Rectangle 32"/>
          <p:cNvSpPr/>
          <p:nvPr/>
        </p:nvSpPr>
        <p:spPr>
          <a:xfrm>
            <a:off x="8211312" y="2167128"/>
            <a:ext cx="3611880" cy="786384"/>
          </a:xfrm>
          <a:prstGeom prst="roundRect">
            <a:avLst>
              <a:gd name="adj" fmla="val 12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321040" y="2246388"/>
            <a:ext cx="3429000" cy="627864"/>
          </a:xfrm>
          <a:prstGeom prst="rect">
            <a:avLst/>
          </a:prstGeom>
          <a:noFill/>
        </p:spPr>
        <p:txBody>
          <a:bodyPr wrap="square" lIns="36576" tIns="36576" rIns="36576" bIns="36576" anchor="ctr">
            <a:spAutoFit/>
          </a:bodyPr>
          <a:lstStyle/>
          <a:p>
            <a:pPr algn="l"/>
            <a:r>
              <a:rPr sz="1200" b="1" i="0" dirty="0">
                <a:solidFill>
                  <a:srgbClr val="147C7C"/>
                </a:solidFill>
                <a:latin typeface="Calibri"/>
              </a:rPr>
              <a:t>Simone </a:t>
            </a:r>
            <a:r>
              <a:rPr sz="1200" b="1" i="0" dirty="0" err="1">
                <a:solidFill>
                  <a:srgbClr val="147C7C"/>
                </a:solidFill>
                <a:latin typeface="Calibri"/>
              </a:rPr>
              <a:t>Perottoni</a:t>
            </a:r>
            <a:r>
              <a:rPr sz="1200" b="0" i="0" dirty="0">
                <a:solidFill>
                  <a:srgbClr val="5B6775"/>
                </a:solidFill>
                <a:latin typeface="Calibri"/>
              </a:rPr>
              <a:t>  </a:t>
            </a:r>
            <a:r>
              <a:rPr sz="1200" b="0" i="0" dirty="0" err="1">
                <a:solidFill>
                  <a:srgbClr val="5B6775"/>
                </a:solidFill>
                <a:latin typeface="Calibri"/>
              </a:rPr>
              <a:t>Politecnico</a:t>
            </a:r>
            <a:r>
              <a:rPr sz="1200" b="0" i="0" dirty="0">
                <a:solidFill>
                  <a:srgbClr val="5B6775"/>
                </a:solidFill>
                <a:latin typeface="Calibri"/>
              </a:rPr>
              <a:t> di Milano</a:t>
            </a:r>
          </a:p>
          <a:p>
            <a:pPr algn="l"/>
            <a:r>
              <a:rPr sz="1200" b="0" i="0" dirty="0">
                <a:solidFill>
                  <a:srgbClr val="1F2937"/>
                </a:solidFill>
                <a:latin typeface="Calibri"/>
              </a:rPr>
              <a:t>Biomedical engineering, physical prediction models, hearing loss and dementia</a:t>
            </a:r>
          </a:p>
        </p:txBody>
      </p:sp>
      <p:sp>
        <p:nvSpPr>
          <p:cNvPr id="37" name="Rounded Rectangle 36"/>
          <p:cNvSpPr/>
          <p:nvPr/>
        </p:nvSpPr>
        <p:spPr>
          <a:xfrm>
            <a:off x="8211312" y="3008376"/>
            <a:ext cx="3611880" cy="786384"/>
          </a:xfrm>
          <a:prstGeom prst="roundRect">
            <a:avLst>
              <a:gd name="adj" fmla="val 12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321040" y="3087636"/>
            <a:ext cx="3429000" cy="627864"/>
          </a:xfrm>
          <a:prstGeom prst="rect">
            <a:avLst/>
          </a:prstGeom>
          <a:noFill/>
        </p:spPr>
        <p:txBody>
          <a:bodyPr wrap="square" lIns="36576" tIns="36576" rIns="36576" bIns="36576" anchor="ctr">
            <a:spAutoFit/>
          </a:bodyPr>
          <a:lstStyle/>
          <a:p>
            <a:pPr algn="l"/>
            <a:r>
              <a:rPr sz="1200" b="1" i="0" dirty="0">
                <a:solidFill>
                  <a:srgbClr val="2A8450"/>
                </a:solidFill>
                <a:latin typeface="Calibri"/>
              </a:rPr>
              <a:t>Sandra Rojas-Botero</a:t>
            </a:r>
            <a:r>
              <a:rPr sz="1200" b="0" i="0" dirty="0">
                <a:solidFill>
                  <a:srgbClr val="5B6775"/>
                </a:solidFill>
                <a:latin typeface="Calibri"/>
              </a:rPr>
              <a:t>  TU Munich</a:t>
            </a:r>
          </a:p>
          <a:p>
            <a:pPr algn="l"/>
            <a:r>
              <a:rPr sz="1200" b="0" i="0" dirty="0">
                <a:solidFill>
                  <a:srgbClr val="1F2937"/>
                </a:solidFill>
                <a:latin typeface="Calibri"/>
              </a:rPr>
              <a:t>Nature-based solutions, urban ecology, field monitoring and experiments</a:t>
            </a:r>
          </a:p>
        </p:txBody>
      </p:sp>
      <p:sp>
        <p:nvSpPr>
          <p:cNvPr id="41" name="Rounded Rectangle 40"/>
          <p:cNvSpPr/>
          <p:nvPr/>
        </p:nvSpPr>
        <p:spPr>
          <a:xfrm>
            <a:off x="8211312" y="3886200"/>
            <a:ext cx="3611880" cy="1207008"/>
          </a:xfrm>
          <a:prstGeom prst="roundRect">
            <a:avLst>
              <a:gd name="adj" fmla="val 8000"/>
            </a:avLst>
          </a:prstGeom>
          <a:solidFill>
            <a:srgbClr val="FFFFFF"/>
          </a:solidFill>
          <a:ln w="15875">
            <a:solidFill>
              <a:srgbClr val="CA6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321040" y="3922776"/>
            <a:ext cx="3429000" cy="1143390"/>
          </a:xfrm>
          <a:prstGeom prst="rect">
            <a:avLst/>
          </a:prstGeom>
          <a:noFill/>
        </p:spPr>
        <p:txBody>
          <a:bodyPr wrap="square" lIns="36576" tIns="36576" rIns="36576" bIns="36576" anchor="t">
            <a:spAutoFit/>
          </a:bodyPr>
          <a:lstStyle/>
          <a:p>
            <a:pPr algn="l">
              <a:spcAft>
                <a:spcPts val="100"/>
              </a:spcAft>
            </a:pPr>
            <a:r>
              <a:rPr sz="1200" b="1" i="0" dirty="0">
                <a:solidFill>
                  <a:srgbClr val="CA6C1C"/>
                </a:solidFill>
                <a:latin typeface="Calibri"/>
              </a:rPr>
              <a:t>EXPERTISE WE STILL NEED</a:t>
            </a:r>
          </a:p>
          <a:p>
            <a:pPr algn="l">
              <a:spcAft>
                <a:spcPts val="100"/>
              </a:spcAft>
            </a:pPr>
            <a:r>
              <a:rPr sz="1100" b="1" i="0" dirty="0">
                <a:solidFill>
                  <a:srgbClr val="1F2937"/>
                </a:solidFill>
                <a:latin typeface="Calibri"/>
              </a:rPr>
              <a:t>Acoustics &amp; soundscape monitoring: </a:t>
            </a:r>
            <a:r>
              <a:rPr sz="1100" b="0" i="0" dirty="0">
                <a:solidFill>
                  <a:srgbClr val="1F2937"/>
                </a:solidFill>
                <a:latin typeface="Calibri"/>
              </a:rPr>
              <a:t>e.g. TU Berlin Technical Acoustics (Prof. </a:t>
            </a:r>
            <a:r>
              <a:rPr sz="1100" b="0" i="0" dirty="0" err="1">
                <a:solidFill>
                  <a:srgbClr val="1F2937"/>
                </a:solidFill>
                <a:latin typeface="Calibri"/>
              </a:rPr>
              <a:t>Sarradj</a:t>
            </a:r>
            <a:r>
              <a:rPr sz="1100" b="0" i="0" dirty="0">
                <a:solidFill>
                  <a:srgbClr val="1F2937"/>
                </a:solidFill>
                <a:latin typeface="Calibri"/>
              </a:rPr>
              <a:t>), TUM </a:t>
            </a:r>
            <a:r>
              <a:rPr sz="1100" b="0" i="0" dirty="0" err="1">
                <a:solidFill>
                  <a:srgbClr val="1F2937"/>
                </a:solidFill>
                <a:latin typeface="Calibri"/>
              </a:rPr>
              <a:t>CitySoundscapes</a:t>
            </a:r>
            <a:endParaRPr sz="1100" b="0" i="0" dirty="0">
              <a:solidFill>
                <a:srgbClr val="1F2937"/>
              </a:solidFill>
              <a:latin typeface="Calibri"/>
            </a:endParaRPr>
          </a:p>
          <a:p>
            <a:pPr algn="l">
              <a:spcAft>
                <a:spcPts val="100"/>
              </a:spcAft>
            </a:pPr>
            <a:r>
              <a:rPr sz="1100" b="1" i="0" dirty="0">
                <a:solidFill>
                  <a:srgbClr val="1F2937"/>
                </a:solidFill>
                <a:latin typeface="Calibri"/>
              </a:rPr>
              <a:t>Public &amp; mental health: </a:t>
            </a:r>
            <a:r>
              <a:rPr sz="1100" b="0" i="0" dirty="0">
                <a:solidFill>
                  <a:srgbClr val="1F2937"/>
                </a:solidFill>
                <a:latin typeface="Calibri"/>
              </a:rPr>
              <a:t>perception, masking, health outcomes</a:t>
            </a:r>
          </a:p>
          <a:p>
            <a:pPr algn="l">
              <a:spcAft>
                <a:spcPts val="100"/>
              </a:spcAft>
            </a:pPr>
            <a:r>
              <a:rPr sz="1100" b="0" i="1" dirty="0">
                <a:solidFill>
                  <a:srgbClr val="5B6775"/>
                </a:solidFill>
                <a:latin typeface="Calibri"/>
              </a:rPr>
              <a:t>Potential partners, not yet approached</a:t>
            </a:r>
          </a:p>
        </p:txBody>
      </p:sp>
      <p:sp>
        <p:nvSpPr>
          <p:cNvPr id="43" name="TextBox 42"/>
          <p:cNvSpPr txBox="1"/>
          <p:nvPr/>
        </p:nvSpPr>
        <p:spPr>
          <a:xfrm>
            <a:off x="9452356" y="5094254"/>
            <a:ext cx="1013121" cy="243143"/>
          </a:xfrm>
          <a:prstGeom prst="rect">
            <a:avLst/>
          </a:prstGeom>
          <a:noFill/>
        </p:spPr>
        <p:txBody>
          <a:bodyPr wrap="square" lIns="36576" tIns="36576" rIns="36576" bIns="36576" anchor="t">
            <a:spAutoFit/>
          </a:bodyPr>
          <a:lstStyle/>
          <a:p>
            <a:pPr algn="l"/>
            <a:r>
              <a:rPr sz="1100" b="1" i="0" dirty="0">
                <a:solidFill>
                  <a:srgbClr val="147C7C"/>
                </a:solidFill>
                <a:latin typeface="Calibri"/>
              </a:rPr>
              <a:t>STAKEHOLDERS</a:t>
            </a:r>
          </a:p>
        </p:txBody>
      </p:sp>
      <p:sp>
        <p:nvSpPr>
          <p:cNvPr id="44" name="Rounded Rectangle 43"/>
          <p:cNvSpPr/>
          <p:nvPr/>
        </p:nvSpPr>
        <p:spPr>
          <a:xfrm>
            <a:off x="8211312" y="5367528"/>
            <a:ext cx="1155192" cy="1014984"/>
          </a:xfrm>
          <a:prstGeom prst="roundRect">
            <a:avLst>
              <a:gd name="adj" fmla="val 10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8211312" y="5367528"/>
            <a:ext cx="1155192" cy="73152"/>
          </a:xfrm>
          <a:prstGeom prst="rect">
            <a:avLst/>
          </a:prstGeom>
          <a:solidFill>
            <a:srgbClr val="1C56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266176" y="5477256"/>
            <a:ext cx="1045464" cy="827919"/>
          </a:xfrm>
          <a:prstGeom prst="rect">
            <a:avLst/>
          </a:prstGeom>
          <a:noFill/>
        </p:spPr>
        <p:txBody>
          <a:bodyPr wrap="square" lIns="36576" tIns="36576" rIns="36576" bIns="36576" anchor="t">
            <a:spAutoFit/>
          </a:bodyPr>
          <a:lstStyle/>
          <a:p>
            <a:pPr algn="l"/>
            <a:r>
              <a:rPr sz="1600" b="1" i="0" dirty="0">
                <a:solidFill>
                  <a:srgbClr val="1C5694"/>
                </a:solidFill>
                <a:latin typeface="Calibri"/>
              </a:rPr>
              <a:t>Decide</a:t>
            </a:r>
          </a:p>
          <a:p>
            <a:pPr algn="l"/>
            <a:r>
              <a:rPr sz="1100" b="0" i="0" dirty="0">
                <a:solidFill>
                  <a:srgbClr val="1F2937"/>
                </a:solidFill>
                <a:latin typeface="Calibri"/>
              </a:rPr>
              <a:t>Councils, hospital &amp; school estates</a:t>
            </a:r>
          </a:p>
        </p:txBody>
      </p:sp>
      <p:sp>
        <p:nvSpPr>
          <p:cNvPr id="47" name="Rounded Rectangle 46"/>
          <p:cNvSpPr/>
          <p:nvPr/>
        </p:nvSpPr>
        <p:spPr>
          <a:xfrm>
            <a:off x="9439656" y="5367528"/>
            <a:ext cx="1155192" cy="1014984"/>
          </a:xfrm>
          <a:prstGeom prst="roundRect">
            <a:avLst>
              <a:gd name="adj" fmla="val 10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9439656" y="5367528"/>
            <a:ext cx="1155192" cy="73152"/>
          </a:xfrm>
          <a:prstGeom prst="rect">
            <a:avLst/>
          </a:prstGeom>
          <a:solidFill>
            <a:srgbClr val="CA6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494520" y="5477256"/>
            <a:ext cx="1045464" cy="827919"/>
          </a:xfrm>
          <a:prstGeom prst="rect">
            <a:avLst/>
          </a:prstGeom>
          <a:noFill/>
        </p:spPr>
        <p:txBody>
          <a:bodyPr wrap="square" lIns="36576" tIns="36576" rIns="36576" bIns="36576" anchor="t">
            <a:spAutoFit/>
          </a:bodyPr>
          <a:lstStyle/>
          <a:p>
            <a:pPr algn="l"/>
            <a:r>
              <a:rPr sz="1600" b="1" i="0" dirty="0">
                <a:solidFill>
                  <a:srgbClr val="CA6C1C"/>
                </a:solidFill>
                <a:latin typeface="Calibri"/>
              </a:rPr>
              <a:t>Live with it</a:t>
            </a:r>
          </a:p>
          <a:p>
            <a:pPr algn="l"/>
            <a:r>
              <a:rPr sz="1100" b="0" i="0" dirty="0">
                <a:solidFill>
                  <a:srgbClr val="1F2937"/>
                </a:solidFill>
                <a:latin typeface="Calibri"/>
              </a:rPr>
              <a:t>Pupils, patients, care-home residents</a:t>
            </a:r>
          </a:p>
        </p:txBody>
      </p:sp>
      <p:sp>
        <p:nvSpPr>
          <p:cNvPr id="50" name="Rounded Rectangle 49"/>
          <p:cNvSpPr/>
          <p:nvPr/>
        </p:nvSpPr>
        <p:spPr>
          <a:xfrm>
            <a:off x="10668000" y="5367528"/>
            <a:ext cx="1155192" cy="1014984"/>
          </a:xfrm>
          <a:prstGeom prst="roundRect">
            <a:avLst>
              <a:gd name="adj" fmla="val 10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10668000" y="5367528"/>
            <a:ext cx="1155192" cy="73152"/>
          </a:xfrm>
          <a:prstGeom prst="rect">
            <a:avLst/>
          </a:prstGeom>
          <a:solidFill>
            <a:srgbClr val="2A8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722864" y="5428872"/>
            <a:ext cx="1045464" cy="997196"/>
          </a:xfrm>
          <a:prstGeom prst="rect">
            <a:avLst/>
          </a:prstGeom>
          <a:noFill/>
        </p:spPr>
        <p:txBody>
          <a:bodyPr wrap="square" lIns="36576" tIns="36576" rIns="36576" bIns="36576" anchor="t">
            <a:spAutoFit/>
          </a:bodyPr>
          <a:lstStyle/>
          <a:p>
            <a:pPr algn="l"/>
            <a:r>
              <a:rPr sz="1600" b="1" i="0" dirty="0">
                <a:solidFill>
                  <a:srgbClr val="2A8450"/>
                </a:solidFill>
                <a:latin typeface="Calibri"/>
              </a:rPr>
              <a:t>Build it</a:t>
            </a:r>
          </a:p>
          <a:p>
            <a:pPr algn="l"/>
            <a:r>
              <a:rPr sz="1100" b="0" i="0" dirty="0">
                <a:solidFill>
                  <a:srgbClr val="1F2937"/>
                </a:solidFill>
                <a:latin typeface="Calibri"/>
              </a:rPr>
              <a:t>Consultants, planning &amp; transport authorities</a:t>
            </a:r>
          </a:p>
        </p:txBody>
      </p:sp>
      <p:sp>
        <p:nvSpPr>
          <p:cNvPr id="53" name="TextBox 52"/>
          <p:cNvSpPr txBox="1"/>
          <p:nvPr/>
        </p:nvSpPr>
        <p:spPr>
          <a:xfrm>
            <a:off x="365760" y="6473952"/>
            <a:ext cx="7315200" cy="274320"/>
          </a:xfrm>
          <a:prstGeom prst="rect">
            <a:avLst/>
          </a:prstGeom>
          <a:noFill/>
        </p:spPr>
        <p:txBody>
          <a:bodyPr wrap="square" lIns="36576" tIns="36576" rIns="36576" bIns="36576" anchor="t">
            <a:spAutoFit/>
          </a:bodyPr>
          <a:lstStyle/>
          <a:p>
            <a:pPr algn="l"/>
            <a:r>
              <a:rPr sz="900" b="0" i="0">
                <a:solidFill>
                  <a:srgbClr val="5B6775"/>
                </a:solidFill>
                <a:latin typeface="Calibri"/>
              </a:rPr>
              <a:t>RESONATE  ·  Imperial College London  ·  Politecnico di Milano  ·  TU Munich</a:t>
            </a:r>
          </a:p>
        </p:txBody>
      </p:sp>
      <p:sp>
        <p:nvSpPr>
          <p:cNvPr id="54" name="TextBox 53"/>
          <p:cNvSpPr txBox="1"/>
          <p:nvPr/>
        </p:nvSpPr>
        <p:spPr>
          <a:xfrm>
            <a:off x="10881360" y="6473952"/>
            <a:ext cx="914400" cy="274320"/>
          </a:xfrm>
          <a:prstGeom prst="rect">
            <a:avLst/>
          </a:prstGeom>
          <a:noFill/>
        </p:spPr>
        <p:txBody>
          <a:bodyPr wrap="square" lIns="36576" tIns="36576" rIns="36576" bIns="36576" anchor="t">
            <a:spAutoFit/>
          </a:bodyPr>
          <a:lstStyle/>
          <a:p>
            <a:pPr algn="r"/>
            <a:r>
              <a:rPr sz="900" b="0" i="0">
                <a:solidFill>
                  <a:srgbClr val="5B6775"/>
                </a:solidFill>
                <a:latin typeface="Calibri"/>
              </a:rP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201168"/>
            <a:ext cx="11430000" cy="320088"/>
          </a:xfrm>
          <a:prstGeom prst="rect">
            <a:avLst/>
          </a:prstGeom>
          <a:noFill/>
        </p:spPr>
        <p:txBody>
          <a:bodyPr wrap="square" lIns="36576" tIns="36576" rIns="36576" bIns="36576" anchor="t">
            <a:spAutoFit/>
          </a:bodyPr>
          <a:lstStyle/>
          <a:p>
            <a:pPr algn="l"/>
            <a:r>
              <a:rPr sz="1600" b="1" i="0" dirty="0">
                <a:solidFill>
                  <a:srgbClr val="147C7C"/>
                </a:solidFill>
                <a:latin typeface="Calibri"/>
              </a:rPr>
              <a:t>PROGRESS, PLAN AND DELIVERABLES</a:t>
            </a:r>
          </a:p>
        </p:txBody>
      </p:sp>
      <p:sp>
        <p:nvSpPr>
          <p:cNvPr id="3" name="TextBox 2"/>
          <p:cNvSpPr txBox="1"/>
          <p:nvPr/>
        </p:nvSpPr>
        <p:spPr>
          <a:xfrm>
            <a:off x="365760" y="457200"/>
            <a:ext cx="11430000" cy="548640"/>
          </a:xfrm>
          <a:prstGeom prst="rect">
            <a:avLst/>
          </a:prstGeom>
          <a:noFill/>
        </p:spPr>
        <p:txBody>
          <a:bodyPr wrap="square" lIns="36576" tIns="36576" rIns="36576" bIns="36576" anchor="t">
            <a:spAutoFit/>
          </a:bodyPr>
          <a:lstStyle/>
          <a:p>
            <a:pPr algn="l"/>
            <a:r>
              <a:rPr sz="2600" b="1" i="0">
                <a:solidFill>
                  <a:srgbClr val="1C5694"/>
                </a:solidFill>
                <a:latin typeface="Calibri"/>
              </a:rPr>
              <a:t>Where we are, the year ahead, and what we will deliver</a:t>
            </a:r>
          </a:p>
        </p:txBody>
      </p:sp>
      <p:sp>
        <p:nvSpPr>
          <p:cNvPr id="4" name="TextBox 3"/>
          <p:cNvSpPr txBox="1"/>
          <p:nvPr/>
        </p:nvSpPr>
        <p:spPr>
          <a:xfrm>
            <a:off x="365760" y="1078992"/>
            <a:ext cx="3794760" cy="320088"/>
          </a:xfrm>
          <a:prstGeom prst="rect">
            <a:avLst/>
          </a:prstGeom>
          <a:noFill/>
        </p:spPr>
        <p:txBody>
          <a:bodyPr wrap="square" lIns="36576" tIns="36576" rIns="36576" bIns="36576" anchor="t">
            <a:spAutoFit/>
          </a:bodyPr>
          <a:lstStyle/>
          <a:p>
            <a:pPr algn="l"/>
            <a:r>
              <a:rPr sz="1600" b="1" i="0" dirty="0">
                <a:solidFill>
                  <a:srgbClr val="147C7C"/>
                </a:solidFill>
                <a:latin typeface="Calibri"/>
              </a:rPr>
              <a:t>PROGRESS SO FAR</a:t>
            </a:r>
          </a:p>
        </p:txBody>
      </p:sp>
      <p:sp>
        <p:nvSpPr>
          <p:cNvPr id="5" name="TextBox 4"/>
          <p:cNvSpPr txBox="1"/>
          <p:nvPr/>
        </p:nvSpPr>
        <p:spPr>
          <a:xfrm>
            <a:off x="365760" y="1353312"/>
            <a:ext cx="3794760" cy="2536079"/>
          </a:xfrm>
          <a:prstGeom prst="rect">
            <a:avLst/>
          </a:prstGeom>
          <a:noFill/>
        </p:spPr>
        <p:txBody>
          <a:bodyPr wrap="square" lIns="36576" tIns="36576" rIns="36576" bIns="36576" anchor="t">
            <a:spAutoFit/>
          </a:bodyPr>
          <a:lstStyle/>
          <a:p>
            <a:pPr algn="l">
              <a:spcAft>
                <a:spcPts val="600"/>
              </a:spcAft>
            </a:pPr>
            <a:r>
              <a:rPr sz="1400" b="1" i="0" dirty="0">
                <a:solidFill>
                  <a:srgbClr val="2A8450"/>
                </a:solidFill>
                <a:latin typeface="Calibri"/>
              </a:rPr>
              <a:t>✓  </a:t>
            </a:r>
            <a:r>
              <a:rPr sz="1400" b="0" i="0" dirty="0">
                <a:solidFill>
                  <a:srgbClr val="1F2937"/>
                </a:solidFill>
                <a:latin typeface="Calibri"/>
              </a:rPr>
              <a:t>Core team formed: Imperial · </a:t>
            </a:r>
            <a:r>
              <a:rPr sz="1400" b="0" i="0" dirty="0" err="1">
                <a:solidFill>
                  <a:srgbClr val="1F2937"/>
                </a:solidFill>
                <a:latin typeface="Calibri"/>
              </a:rPr>
              <a:t>PoliMi</a:t>
            </a:r>
            <a:r>
              <a:rPr sz="1400" b="0" i="0" dirty="0">
                <a:solidFill>
                  <a:srgbClr val="1F2937"/>
                </a:solidFill>
                <a:latin typeface="Calibri"/>
              </a:rPr>
              <a:t> · TUM</a:t>
            </a:r>
          </a:p>
          <a:p>
            <a:pPr algn="l">
              <a:spcAft>
                <a:spcPts val="600"/>
              </a:spcAft>
            </a:pPr>
            <a:r>
              <a:rPr sz="1400" b="1" i="0" dirty="0">
                <a:solidFill>
                  <a:srgbClr val="2A8450"/>
                </a:solidFill>
                <a:latin typeface="Calibri"/>
              </a:rPr>
              <a:t>✓  </a:t>
            </a:r>
            <a:r>
              <a:rPr sz="1400" b="0" i="0" dirty="0">
                <a:solidFill>
                  <a:srgbClr val="1F2937"/>
                </a:solidFill>
                <a:latin typeface="Calibri"/>
              </a:rPr>
              <a:t>London working sessions: framework agreed (twin + intervention portfolio + living labs)</a:t>
            </a:r>
          </a:p>
          <a:p>
            <a:pPr algn="l">
              <a:spcAft>
                <a:spcPts val="600"/>
              </a:spcAft>
            </a:pPr>
            <a:r>
              <a:rPr sz="1400" b="1" i="0" dirty="0">
                <a:solidFill>
                  <a:srgbClr val="2A8450"/>
                </a:solidFill>
                <a:latin typeface="Calibri"/>
              </a:rPr>
              <a:t>✓  </a:t>
            </a:r>
            <a:r>
              <a:rPr sz="1400" b="0" i="0" dirty="0">
                <a:solidFill>
                  <a:srgbClr val="1F2937"/>
                </a:solidFill>
                <a:latin typeface="Calibri"/>
              </a:rPr>
              <a:t>Concept proposal and literature screening: no existing tool goes from noise map to decision</a:t>
            </a:r>
          </a:p>
          <a:p>
            <a:pPr algn="l">
              <a:spcAft>
                <a:spcPts val="600"/>
              </a:spcAft>
            </a:pPr>
            <a:r>
              <a:rPr sz="1400" b="1" i="0" dirty="0">
                <a:solidFill>
                  <a:srgbClr val="2A8450"/>
                </a:solidFill>
                <a:latin typeface="Calibri"/>
              </a:rPr>
              <a:t>✓  </a:t>
            </a:r>
            <a:r>
              <a:rPr sz="1400" b="0" i="0" dirty="0">
                <a:solidFill>
                  <a:srgbClr val="1F2937"/>
                </a:solidFill>
                <a:latin typeface="Calibri"/>
              </a:rPr>
              <a:t>Connect Fund bid drafted: £6,000, January 2027 panel</a:t>
            </a:r>
          </a:p>
          <a:p>
            <a:pPr algn="l">
              <a:spcAft>
                <a:spcPts val="600"/>
              </a:spcAft>
            </a:pPr>
            <a:r>
              <a:rPr sz="1400" b="1" i="0" dirty="0">
                <a:solidFill>
                  <a:srgbClr val="2A8450"/>
                </a:solidFill>
                <a:latin typeface="Calibri"/>
              </a:rPr>
              <a:t>✓  </a:t>
            </a:r>
            <a:r>
              <a:rPr sz="1400" b="0" i="0" dirty="0">
                <a:solidFill>
                  <a:srgbClr val="1F2937"/>
                </a:solidFill>
                <a:latin typeface="Calibri"/>
              </a:rPr>
              <a:t>Living-lab cities shortlisted (London, Munich, Milan); potential collaborators identified, to be approached</a:t>
            </a:r>
          </a:p>
        </p:txBody>
      </p:sp>
      <p:pic>
        <p:nvPicPr>
          <p:cNvPr id="6" name="Picture 5" descr="result4.jpeg"/>
          <p:cNvPicPr>
            <a:picLocks noChangeAspect="1"/>
          </p:cNvPicPr>
          <p:nvPr/>
        </p:nvPicPr>
        <p:blipFill>
          <a:blip r:embed="rId3"/>
          <a:stretch>
            <a:fillRect/>
          </a:stretch>
        </p:blipFill>
        <p:spPr>
          <a:xfrm>
            <a:off x="365760" y="4264506"/>
            <a:ext cx="3794760" cy="2118006"/>
          </a:xfrm>
          <a:prstGeom prst="rect">
            <a:avLst/>
          </a:prstGeom>
        </p:spPr>
      </p:pic>
      <p:sp>
        <p:nvSpPr>
          <p:cNvPr id="7" name="Rounded Rectangle 6"/>
          <p:cNvSpPr/>
          <p:nvPr/>
        </p:nvSpPr>
        <p:spPr>
          <a:xfrm>
            <a:off x="420624" y="4310226"/>
            <a:ext cx="685800" cy="246888"/>
          </a:xfrm>
          <a:prstGeom prst="roundRect">
            <a:avLst>
              <a:gd name="adj" fmla="val 50000"/>
            </a:avLst>
          </a:prstGeom>
          <a:solidFill>
            <a:srgbClr val="CA6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20624" y="4310226"/>
            <a:ext cx="685800" cy="246888"/>
          </a:xfrm>
          <a:prstGeom prst="rect">
            <a:avLst/>
          </a:prstGeom>
          <a:noFill/>
        </p:spPr>
        <p:txBody>
          <a:bodyPr wrap="square" lIns="0" tIns="0" rIns="0" bIns="0" anchor="ctr">
            <a:spAutoFit/>
          </a:bodyPr>
          <a:lstStyle/>
          <a:p>
            <a:pPr algn="ctr"/>
            <a:r>
              <a:rPr sz="1000" b="1" i="0">
                <a:solidFill>
                  <a:srgbClr val="FFFFFF"/>
                </a:solidFill>
                <a:latin typeface="Calibri"/>
              </a:rPr>
              <a:t>Before</a:t>
            </a:r>
          </a:p>
        </p:txBody>
      </p:sp>
      <p:sp>
        <p:nvSpPr>
          <p:cNvPr id="9" name="Rounded Rectangle 8"/>
          <p:cNvSpPr/>
          <p:nvPr/>
        </p:nvSpPr>
        <p:spPr>
          <a:xfrm>
            <a:off x="2318004" y="4310226"/>
            <a:ext cx="1325880" cy="246888"/>
          </a:xfrm>
          <a:prstGeom prst="roundRect">
            <a:avLst>
              <a:gd name="adj" fmla="val 50000"/>
            </a:avLst>
          </a:prstGeom>
          <a:solidFill>
            <a:srgbClr val="2A8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318004" y="4310226"/>
            <a:ext cx="1325880" cy="246888"/>
          </a:xfrm>
          <a:prstGeom prst="rect">
            <a:avLst/>
          </a:prstGeom>
          <a:noFill/>
        </p:spPr>
        <p:txBody>
          <a:bodyPr wrap="square" lIns="0" tIns="0" rIns="0" bIns="0" anchor="ctr">
            <a:spAutoFit/>
          </a:bodyPr>
          <a:lstStyle/>
          <a:p>
            <a:pPr algn="ctr"/>
            <a:r>
              <a:rPr sz="1000" b="1" i="0" dirty="0">
                <a:solidFill>
                  <a:srgbClr val="FFFFFF"/>
                </a:solidFill>
                <a:latin typeface="Calibri"/>
              </a:rPr>
              <a:t>After: living lab</a:t>
            </a:r>
          </a:p>
        </p:txBody>
      </p:sp>
      <p:sp>
        <p:nvSpPr>
          <p:cNvPr id="11" name="TextBox 10"/>
          <p:cNvSpPr txBox="1"/>
          <p:nvPr/>
        </p:nvSpPr>
        <p:spPr>
          <a:xfrm>
            <a:off x="4434840" y="1078992"/>
            <a:ext cx="7388352" cy="320088"/>
          </a:xfrm>
          <a:prstGeom prst="rect">
            <a:avLst/>
          </a:prstGeom>
          <a:noFill/>
        </p:spPr>
        <p:txBody>
          <a:bodyPr wrap="square" lIns="36576" tIns="36576" rIns="36576" bIns="36576" anchor="t">
            <a:spAutoFit/>
          </a:bodyPr>
          <a:lstStyle/>
          <a:p>
            <a:pPr algn="l"/>
            <a:r>
              <a:rPr sz="1600" b="1" i="0" dirty="0">
                <a:solidFill>
                  <a:srgbClr val="147C7C"/>
                </a:solidFill>
                <a:latin typeface="Calibri"/>
              </a:rPr>
              <a:t>PLAN FOR THE YEAR</a:t>
            </a:r>
          </a:p>
        </p:txBody>
      </p:sp>
      <p:sp>
        <p:nvSpPr>
          <p:cNvPr id="12" name="Rectangle 11"/>
          <p:cNvSpPr/>
          <p:nvPr/>
        </p:nvSpPr>
        <p:spPr>
          <a:xfrm>
            <a:off x="5173675" y="1792224"/>
            <a:ext cx="5910681" cy="36576"/>
          </a:xfrm>
          <a:prstGeom prst="rect">
            <a:avLst/>
          </a:prstGeom>
          <a:solidFill>
            <a:srgbClr val="C9D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34840" y="1353312"/>
            <a:ext cx="1477670" cy="274320"/>
          </a:xfrm>
          <a:prstGeom prst="rect">
            <a:avLst/>
          </a:prstGeom>
          <a:noFill/>
        </p:spPr>
        <p:txBody>
          <a:bodyPr wrap="square" lIns="36576" tIns="36576" rIns="36576" bIns="36576" anchor="t">
            <a:spAutoFit/>
          </a:bodyPr>
          <a:lstStyle/>
          <a:p>
            <a:pPr algn="ctr"/>
            <a:r>
              <a:rPr sz="1150" b="1" i="0">
                <a:solidFill>
                  <a:srgbClr val="1C5694"/>
                </a:solidFill>
                <a:latin typeface="Calibri"/>
              </a:rPr>
              <a:t>Oct–Dec 2026</a:t>
            </a:r>
          </a:p>
        </p:txBody>
      </p:sp>
      <p:sp>
        <p:nvSpPr>
          <p:cNvPr id="14" name="Oval 13"/>
          <p:cNvSpPr/>
          <p:nvPr/>
        </p:nvSpPr>
        <p:spPr>
          <a:xfrm>
            <a:off x="5073091" y="1709928"/>
            <a:ext cx="201168" cy="201168"/>
          </a:xfrm>
          <a:prstGeom prst="ellipse">
            <a:avLst/>
          </a:prstGeom>
          <a:solidFill>
            <a:srgbClr val="1C56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28727" y="1990019"/>
            <a:ext cx="1689896" cy="1012585"/>
          </a:xfrm>
          <a:prstGeom prst="rect">
            <a:avLst/>
          </a:prstGeom>
          <a:noFill/>
        </p:spPr>
        <p:txBody>
          <a:bodyPr wrap="square" lIns="36576" tIns="36576" rIns="36576" bIns="36576" anchor="t">
            <a:spAutoFit/>
          </a:bodyPr>
          <a:lstStyle/>
          <a:p>
            <a:pPr algn="ctr">
              <a:spcAft>
                <a:spcPts val="300"/>
              </a:spcAft>
            </a:pPr>
            <a:r>
              <a:rPr sz="1400" b="0" i="0" dirty="0">
                <a:solidFill>
                  <a:srgbClr val="1F2937"/>
                </a:solidFill>
                <a:latin typeface="Calibri"/>
              </a:rPr>
              <a:t>Visit TUM (ETA)</a:t>
            </a:r>
          </a:p>
          <a:p>
            <a:pPr algn="ctr">
              <a:spcAft>
                <a:spcPts val="300"/>
              </a:spcAft>
            </a:pPr>
            <a:r>
              <a:rPr sz="1400" b="0" i="0" dirty="0">
                <a:solidFill>
                  <a:srgbClr val="1F2937"/>
                </a:solidFill>
                <a:latin typeface="Calibri"/>
              </a:rPr>
              <a:t>Approach acoustics</a:t>
            </a:r>
            <a:r>
              <a:rPr lang="it-IT" sz="1400" b="0" i="0" dirty="0">
                <a:solidFill>
                  <a:srgbClr val="1F2937"/>
                </a:solidFill>
                <a:latin typeface="Calibri"/>
              </a:rPr>
              <a:t> /</a:t>
            </a:r>
            <a:r>
              <a:rPr sz="1400" b="0" i="0" dirty="0">
                <a:solidFill>
                  <a:srgbClr val="1F2937"/>
                </a:solidFill>
                <a:latin typeface="Calibri"/>
              </a:rPr>
              <a:t> health collaborators</a:t>
            </a:r>
          </a:p>
          <a:p>
            <a:pPr algn="ctr">
              <a:spcAft>
                <a:spcPts val="300"/>
              </a:spcAft>
            </a:pPr>
            <a:r>
              <a:rPr sz="1400" b="0" i="0" dirty="0">
                <a:solidFill>
                  <a:srgbClr val="1F2937"/>
                </a:solidFill>
                <a:latin typeface="Calibri"/>
              </a:rPr>
              <a:t>Submit Connect Fund</a:t>
            </a:r>
          </a:p>
        </p:txBody>
      </p:sp>
      <p:sp>
        <p:nvSpPr>
          <p:cNvPr id="16" name="TextBox 15"/>
          <p:cNvSpPr txBox="1"/>
          <p:nvPr/>
        </p:nvSpPr>
        <p:spPr>
          <a:xfrm>
            <a:off x="5912510" y="1353312"/>
            <a:ext cx="1477670" cy="274320"/>
          </a:xfrm>
          <a:prstGeom prst="rect">
            <a:avLst/>
          </a:prstGeom>
          <a:noFill/>
        </p:spPr>
        <p:txBody>
          <a:bodyPr wrap="square" lIns="36576" tIns="36576" rIns="36576" bIns="36576" anchor="t">
            <a:spAutoFit/>
          </a:bodyPr>
          <a:lstStyle/>
          <a:p>
            <a:pPr algn="ctr"/>
            <a:r>
              <a:rPr sz="1150" b="1" i="0">
                <a:solidFill>
                  <a:srgbClr val="1C5694"/>
                </a:solidFill>
                <a:latin typeface="Calibri"/>
              </a:rPr>
              <a:t>Jan–Mar 2027</a:t>
            </a:r>
          </a:p>
        </p:txBody>
      </p:sp>
      <p:sp>
        <p:nvSpPr>
          <p:cNvPr id="17" name="Oval 16"/>
          <p:cNvSpPr/>
          <p:nvPr/>
        </p:nvSpPr>
        <p:spPr>
          <a:xfrm>
            <a:off x="6632447" y="1711452"/>
            <a:ext cx="201168" cy="201168"/>
          </a:xfrm>
          <a:prstGeom prst="ellipse">
            <a:avLst/>
          </a:prstGeom>
          <a:solidFill>
            <a:srgbClr val="1C56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34146" y="1993392"/>
            <a:ext cx="1386230" cy="974113"/>
          </a:xfrm>
          <a:prstGeom prst="rect">
            <a:avLst/>
          </a:prstGeom>
          <a:noFill/>
        </p:spPr>
        <p:txBody>
          <a:bodyPr wrap="square" lIns="36576" tIns="36576" rIns="36576" bIns="36576" anchor="t">
            <a:spAutoFit/>
          </a:bodyPr>
          <a:lstStyle/>
          <a:p>
            <a:pPr algn="ctr">
              <a:spcAft>
                <a:spcPts val="300"/>
              </a:spcAft>
            </a:pPr>
            <a:r>
              <a:rPr sz="1400" b="0" i="0" dirty="0">
                <a:solidFill>
                  <a:srgbClr val="1F2937"/>
                </a:solidFill>
                <a:latin typeface="Calibri"/>
              </a:rPr>
              <a:t>Connect Fund award</a:t>
            </a:r>
          </a:p>
          <a:p>
            <a:pPr algn="ctr">
              <a:spcAft>
                <a:spcPts val="300"/>
              </a:spcAft>
            </a:pPr>
            <a:r>
              <a:rPr sz="1400" b="0" i="0" dirty="0">
                <a:solidFill>
                  <a:srgbClr val="1F2937"/>
                </a:solidFill>
                <a:latin typeface="Calibri"/>
              </a:rPr>
              <a:t>Acoustics course (Simone)</a:t>
            </a:r>
          </a:p>
        </p:txBody>
      </p:sp>
      <p:sp>
        <p:nvSpPr>
          <p:cNvPr id="19" name="TextBox 18"/>
          <p:cNvSpPr txBox="1"/>
          <p:nvPr/>
        </p:nvSpPr>
        <p:spPr>
          <a:xfrm>
            <a:off x="7390180" y="1353312"/>
            <a:ext cx="1477670" cy="274320"/>
          </a:xfrm>
          <a:prstGeom prst="rect">
            <a:avLst/>
          </a:prstGeom>
          <a:noFill/>
        </p:spPr>
        <p:txBody>
          <a:bodyPr wrap="square" lIns="36576" tIns="36576" rIns="36576" bIns="36576" anchor="t">
            <a:spAutoFit/>
          </a:bodyPr>
          <a:lstStyle/>
          <a:p>
            <a:pPr algn="ctr"/>
            <a:r>
              <a:rPr sz="1150" b="1" i="0">
                <a:solidFill>
                  <a:srgbClr val="147C7C"/>
                </a:solidFill>
                <a:latin typeface="Calibri"/>
              </a:rPr>
              <a:t>Apr–Jun 2027</a:t>
            </a:r>
          </a:p>
        </p:txBody>
      </p:sp>
      <p:sp>
        <p:nvSpPr>
          <p:cNvPr id="20" name="Oval 19"/>
          <p:cNvSpPr/>
          <p:nvPr/>
        </p:nvSpPr>
        <p:spPr>
          <a:xfrm>
            <a:off x="8028432" y="1709928"/>
            <a:ext cx="201168" cy="201168"/>
          </a:xfrm>
          <a:prstGeom prst="ellipse">
            <a:avLst/>
          </a:prstGeom>
          <a:solidFill>
            <a:srgbClr val="147C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35900" y="1993392"/>
            <a:ext cx="1386230" cy="974113"/>
          </a:xfrm>
          <a:prstGeom prst="rect">
            <a:avLst/>
          </a:prstGeom>
          <a:noFill/>
        </p:spPr>
        <p:txBody>
          <a:bodyPr wrap="square" lIns="36576" tIns="36576" rIns="36576" bIns="36576" anchor="t">
            <a:spAutoFit/>
          </a:bodyPr>
          <a:lstStyle/>
          <a:p>
            <a:pPr algn="ctr">
              <a:spcAft>
                <a:spcPts val="300"/>
              </a:spcAft>
            </a:pPr>
            <a:r>
              <a:rPr sz="1400" b="0" i="0" dirty="0">
                <a:solidFill>
                  <a:srgbClr val="1F2937"/>
                </a:solidFill>
                <a:latin typeface="Calibri"/>
              </a:rPr>
              <a:t>2-day workshop at Imperial</a:t>
            </a:r>
          </a:p>
          <a:p>
            <a:pPr algn="ctr">
              <a:spcAft>
                <a:spcPts val="300"/>
              </a:spcAft>
            </a:pPr>
            <a:r>
              <a:rPr sz="1400" b="0" i="0" dirty="0">
                <a:solidFill>
                  <a:srgbClr val="1F2937"/>
                </a:solidFill>
                <a:latin typeface="Calibri"/>
              </a:rPr>
              <a:t>Visit potential collaborators</a:t>
            </a:r>
          </a:p>
        </p:txBody>
      </p:sp>
      <p:sp>
        <p:nvSpPr>
          <p:cNvPr id="22" name="TextBox 21"/>
          <p:cNvSpPr txBox="1"/>
          <p:nvPr/>
        </p:nvSpPr>
        <p:spPr>
          <a:xfrm>
            <a:off x="8867851" y="1353312"/>
            <a:ext cx="1477670" cy="274320"/>
          </a:xfrm>
          <a:prstGeom prst="rect">
            <a:avLst/>
          </a:prstGeom>
          <a:noFill/>
        </p:spPr>
        <p:txBody>
          <a:bodyPr wrap="square" lIns="36576" tIns="36576" rIns="36576" bIns="36576" anchor="t">
            <a:spAutoFit/>
          </a:bodyPr>
          <a:lstStyle/>
          <a:p>
            <a:pPr algn="ctr"/>
            <a:r>
              <a:rPr sz="1150" b="1" i="0">
                <a:solidFill>
                  <a:srgbClr val="2A8450"/>
                </a:solidFill>
                <a:latin typeface="Calibri"/>
              </a:rPr>
              <a:t>Jul–Sep 2027</a:t>
            </a:r>
          </a:p>
        </p:txBody>
      </p:sp>
      <p:sp>
        <p:nvSpPr>
          <p:cNvPr id="23" name="Oval 22"/>
          <p:cNvSpPr/>
          <p:nvPr/>
        </p:nvSpPr>
        <p:spPr>
          <a:xfrm>
            <a:off x="9506102" y="1709928"/>
            <a:ext cx="201168" cy="201168"/>
          </a:xfrm>
          <a:prstGeom prst="ellipse">
            <a:avLst/>
          </a:prstGeom>
          <a:solidFill>
            <a:srgbClr val="2A8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13571" y="1993392"/>
            <a:ext cx="1386230" cy="974113"/>
          </a:xfrm>
          <a:prstGeom prst="rect">
            <a:avLst/>
          </a:prstGeom>
          <a:noFill/>
        </p:spPr>
        <p:txBody>
          <a:bodyPr wrap="square" lIns="36576" tIns="36576" rIns="36576" bIns="36576" anchor="t">
            <a:spAutoFit/>
          </a:bodyPr>
          <a:lstStyle/>
          <a:p>
            <a:pPr algn="ctr">
              <a:spcAft>
                <a:spcPts val="300"/>
              </a:spcAft>
            </a:pPr>
            <a:r>
              <a:rPr sz="1400" b="0" i="0" dirty="0">
                <a:solidFill>
                  <a:srgbClr val="1F2937"/>
                </a:solidFill>
                <a:latin typeface="Calibri"/>
              </a:rPr>
              <a:t>Review paper with preliminary twin results</a:t>
            </a:r>
          </a:p>
          <a:p>
            <a:pPr algn="ctr">
              <a:spcAft>
                <a:spcPts val="300"/>
              </a:spcAft>
            </a:pPr>
            <a:r>
              <a:rPr sz="1400" b="0" i="0" dirty="0">
                <a:solidFill>
                  <a:srgbClr val="1F2937"/>
                </a:solidFill>
                <a:latin typeface="Calibri"/>
              </a:rPr>
              <a:t>Pilot monitoring</a:t>
            </a:r>
          </a:p>
        </p:txBody>
      </p:sp>
      <p:sp>
        <p:nvSpPr>
          <p:cNvPr id="25" name="TextBox 24"/>
          <p:cNvSpPr txBox="1"/>
          <p:nvPr/>
        </p:nvSpPr>
        <p:spPr>
          <a:xfrm>
            <a:off x="10345521" y="1353312"/>
            <a:ext cx="1477670" cy="274320"/>
          </a:xfrm>
          <a:prstGeom prst="rect">
            <a:avLst/>
          </a:prstGeom>
          <a:noFill/>
        </p:spPr>
        <p:txBody>
          <a:bodyPr wrap="square" lIns="36576" tIns="36576" rIns="36576" bIns="36576" anchor="t">
            <a:spAutoFit/>
          </a:bodyPr>
          <a:lstStyle/>
          <a:p>
            <a:pPr algn="ctr"/>
            <a:r>
              <a:rPr sz="1150" b="1" i="0">
                <a:solidFill>
                  <a:srgbClr val="CA6C1C"/>
                </a:solidFill>
                <a:latin typeface="Calibri"/>
              </a:rPr>
              <a:t>Oct 2027 →</a:t>
            </a:r>
          </a:p>
        </p:txBody>
      </p:sp>
      <p:sp>
        <p:nvSpPr>
          <p:cNvPr id="26" name="Oval 25"/>
          <p:cNvSpPr/>
          <p:nvPr/>
        </p:nvSpPr>
        <p:spPr>
          <a:xfrm>
            <a:off x="10983772" y="1709928"/>
            <a:ext cx="201168" cy="201168"/>
          </a:xfrm>
          <a:prstGeom prst="ellipse">
            <a:avLst/>
          </a:prstGeom>
          <a:solidFill>
            <a:srgbClr val="CA6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391241" y="1993392"/>
            <a:ext cx="1386230" cy="720197"/>
          </a:xfrm>
          <a:prstGeom prst="rect">
            <a:avLst/>
          </a:prstGeom>
          <a:noFill/>
        </p:spPr>
        <p:txBody>
          <a:bodyPr wrap="square" lIns="36576" tIns="36576" rIns="36576" bIns="36576" anchor="t">
            <a:spAutoFit/>
          </a:bodyPr>
          <a:lstStyle/>
          <a:p>
            <a:pPr algn="ctr">
              <a:spcAft>
                <a:spcPts val="300"/>
              </a:spcAft>
            </a:pPr>
            <a:r>
              <a:rPr sz="1400" b="0" i="0" dirty="0">
                <a:solidFill>
                  <a:srgbClr val="1F2937"/>
                </a:solidFill>
                <a:latin typeface="Calibri"/>
              </a:rPr>
              <a:t>Submit to the screened funding call</a:t>
            </a:r>
          </a:p>
        </p:txBody>
      </p:sp>
      <p:sp>
        <p:nvSpPr>
          <p:cNvPr id="28" name="TextBox 27"/>
          <p:cNvSpPr txBox="1"/>
          <p:nvPr/>
        </p:nvSpPr>
        <p:spPr>
          <a:xfrm>
            <a:off x="4434840" y="2999232"/>
            <a:ext cx="7388352" cy="289310"/>
          </a:xfrm>
          <a:prstGeom prst="rect">
            <a:avLst/>
          </a:prstGeom>
          <a:noFill/>
        </p:spPr>
        <p:txBody>
          <a:bodyPr wrap="square" lIns="36576" tIns="36576" rIns="36576" bIns="36576" anchor="t">
            <a:spAutoFit/>
          </a:bodyPr>
          <a:lstStyle/>
          <a:p>
            <a:pPr algn="ctr"/>
            <a:r>
              <a:rPr sz="1400" b="0" i="1" dirty="0">
                <a:solidFill>
                  <a:srgbClr val="5B6775"/>
                </a:solidFill>
                <a:latin typeface="Calibri"/>
              </a:rPr>
              <a:t>Throughout: screening Horizon Europe and other calls to target</a:t>
            </a:r>
          </a:p>
        </p:txBody>
      </p:sp>
      <p:sp>
        <p:nvSpPr>
          <p:cNvPr id="29" name="TextBox 28"/>
          <p:cNvSpPr txBox="1"/>
          <p:nvPr/>
        </p:nvSpPr>
        <p:spPr>
          <a:xfrm>
            <a:off x="4434840" y="3291840"/>
            <a:ext cx="7388352" cy="320088"/>
          </a:xfrm>
          <a:prstGeom prst="rect">
            <a:avLst/>
          </a:prstGeom>
          <a:noFill/>
        </p:spPr>
        <p:txBody>
          <a:bodyPr wrap="square" lIns="36576" tIns="36576" rIns="36576" bIns="36576" anchor="t">
            <a:spAutoFit/>
          </a:bodyPr>
          <a:lstStyle/>
          <a:p>
            <a:pPr algn="l"/>
            <a:r>
              <a:rPr sz="1600" b="1" i="0" dirty="0">
                <a:solidFill>
                  <a:srgbClr val="147C7C"/>
                </a:solidFill>
                <a:latin typeface="Calibri"/>
              </a:rPr>
              <a:t>DELIVERABLES</a:t>
            </a:r>
          </a:p>
        </p:txBody>
      </p:sp>
      <p:sp>
        <p:nvSpPr>
          <p:cNvPr id="30" name="Rounded Rectangle 29"/>
          <p:cNvSpPr/>
          <p:nvPr/>
        </p:nvSpPr>
        <p:spPr>
          <a:xfrm>
            <a:off x="4434840" y="3566160"/>
            <a:ext cx="2389632" cy="146304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434840" y="3566160"/>
            <a:ext cx="82296" cy="1463040"/>
          </a:xfrm>
          <a:prstGeom prst="rect">
            <a:avLst/>
          </a:prstGeom>
          <a:solidFill>
            <a:srgbClr val="1C56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636007" y="3657600"/>
            <a:ext cx="2097024" cy="1220334"/>
          </a:xfrm>
          <a:prstGeom prst="rect">
            <a:avLst/>
          </a:prstGeom>
          <a:noFill/>
        </p:spPr>
        <p:txBody>
          <a:bodyPr wrap="square" lIns="36576" tIns="36576" rIns="36576" bIns="36576" anchor="t">
            <a:spAutoFit/>
          </a:bodyPr>
          <a:lstStyle/>
          <a:p>
            <a:pPr algn="l">
              <a:spcAft>
                <a:spcPts val="300"/>
              </a:spcAft>
            </a:pPr>
            <a:r>
              <a:rPr sz="1600" b="1" i="0" dirty="0">
                <a:solidFill>
                  <a:srgbClr val="1C5694"/>
                </a:solidFill>
                <a:latin typeface="Calibri"/>
              </a:rPr>
              <a:t>Workshop</a:t>
            </a:r>
          </a:p>
          <a:p>
            <a:pPr algn="l">
              <a:spcAft>
                <a:spcPts val="300"/>
              </a:spcAft>
            </a:pPr>
            <a:r>
              <a:rPr sz="1400" b="0" i="0" dirty="0">
                <a:solidFill>
                  <a:srgbClr val="1F2937"/>
                </a:solidFill>
                <a:latin typeface="Calibri"/>
              </a:rPr>
              <a:t>2-day Connect Fund workshop at Imperial with partners and invited experts</a:t>
            </a:r>
          </a:p>
        </p:txBody>
      </p:sp>
      <p:sp>
        <p:nvSpPr>
          <p:cNvPr id="33" name="Rounded Rectangle 32"/>
          <p:cNvSpPr/>
          <p:nvPr/>
        </p:nvSpPr>
        <p:spPr>
          <a:xfrm>
            <a:off x="6934200" y="3566160"/>
            <a:ext cx="2389632" cy="146304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934200" y="3566160"/>
            <a:ext cx="82296" cy="1463040"/>
          </a:xfrm>
          <a:prstGeom prst="rect">
            <a:avLst/>
          </a:prstGeom>
          <a:solidFill>
            <a:srgbClr val="147C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135367" y="3657600"/>
            <a:ext cx="2097024" cy="1251112"/>
          </a:xfrm>
          <a:prstGeom prst="rect">
            <a:avLst/>
          </a:prstGeom>
          <a:noFill/>
        </p:spPr>
        <p:txBody>
          <a:bodyPr wrap="square" lIns="36576" tIns="36576" rIns="36576" bIns="36576" anchor="t">
            <a:spAutoFit/>
          </a:bodyPr>
          <a:lstStyle/>
          <a:p>
            <a:pPr algn="l">
              <a:spcAft>
                <a:spcPts val="300"/>
              </a:spcAft>
            </a:pPr>
            <a:r>
              <a:rPr sz="1600" b="1" i="0" dirty="0">
                <a:solidFill>
                  <a:srgbClr val="147C7C"/>
                </a:solidFill>
                <a:latin typeface="Calibri"/>
              </a:rPr>
              <a:t>Co-supervised Master's theses</a:t>
            </a:r>
          </a:p>
          <a:p>
            <a:pPr algn="l">
              <a:spcAft>
                <a:spcPts val="300"/>
              </a:spcAft>
            </a:pPr>
            <a:r>
              <a:rPr sz="1400" b="0" i="0" dirty="0">
                <a:solidFill>
                  <a:srgbClr val="1F2937"/>
                </a:solidFill>
                <a:latin typeface="Calibri"/>
              </a:rPr>
              <a:t>Joint student projects across Imperial, </a:t>
            </a:r>
            <a:r>
              <a:rPr sz="1400" b="0" i="0" dirty="0" err="1">
                <a:solidFill>
                  <a:srgbClr val="1F2937"/>
                </a:solidFill>
                <a:latin typeface="Calibri"/>
              </a:rPr>
              <a:t>PoliMi</a:t>
            </a:r>
            <a:r>
              <a:rPr sz="1400" b="0" i="0" dirty="0">
                <a:solidFill>
                  <a:srgbClr val="1F2937"/>
                </a:solidFill>
                <a:latin typeface="Calibri"/>
              </a:rPr>
              <a:t> and TUM</a:t>
            </a:r>
          </a:p>
        </p:txBody>
      </p:sp>
      <p:sp>
        <p:nvSpPr>
          <p:cNvPr id="36" name="Rounded Rectangle 35"/>
          <p:cNvSpPr/>
          <p:nvPr/>
        </p:nvSpPr>
        <p:spPr>
          <a:xfrm>
            <a:off x="9433560" y="3566160"/>
            <a:ext cx="2389632" cy="146304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433560" y="3566160"/>
            <a:ext cx="82296" cy="1463040"/>
          </a:xfrm>
          <a:prstGeom prst="rect">
            <a:avLst/>
          </a:prstGeom>
          <a:solidFill>
            <a:srgbClr val="2A8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34728" y="3657600"/>
            <a:ext cx="2097024" cy="1004890"/>
          </a:xfrm>
          <a:prstGeom prst="rect">
            <a:avLst/>
          </a:prstGeom>
          <a:noFill/>
        </p:spPr>
        <p:txBody>
          <a:bodyPr wrap="square" lIns="36576" tIns="36576" rIns="36576" bIns="36576" anchor="t">
            <a:spAutoFit/>
          </a:bodyPr>
          <a:lstStyle/>
          <a:p>
            <a:pPr algn="l">
              <a:spcAft>
                <a:spcPts val="300"/>
              </a:spcAft>
            </a:pPr>
            <a:r>
              <a:rPr sz="1600" b="1" i="0" dirty="0">
                <a:solidFill>
                  <a:srgbClr val="2A8450"/>
                </a:solidFill>
                <a:latin typeface="Calibri"/>
              </a:rPr>
              <a:t>Preliminary model</a:t>
            </a:r>
          </a:p>
          <a:p>
            <a:pPr algn="l">
              <a:spcAft>
                <a:spcPts val="300"/>
              </a:spcAft>
            </a:pPr>
            <a:r>
              <a:rPr sz="1400" b="0" i="0" dirty="0">
                <a:solidFill>
                  <a:srgbClr val="1F2937"/>
                </a:solidFill>
                <a:latin typeface="Calibri"/>
              </a:rPr>
              <a:t>First </a:t>
            </a:r>
            <a:r>
              <a:rPr sz="1400" b="0" i="0" dirty="0" err="1">
                <a:solidFill>
                  <a:srgbClr val="1F2937"/>
                </a:solidFill>
                <a:latin typeface="Calibri"/>
              </a:rPr>
              <a:t>neighbourhood</a:t>
            </a:r>
            <a:r>
              <a:rPr sz="1400" b="0" i="0" dirty="0">
                <a:solidFill>
                  <a:srgbClr val="1F2937"/>
                </a:solidFill>
                <a:latin typeface="Calibri"/>
              </a:rPr>
              <a:t> twin and recommender prototype on one pilot site</a:t>
            </a:r>
          </a:p>
        </p:txBody>
      </p:sp>
      <p:sp>
        <p:nvSpPr>
          <p:cNvPr id="39" name="Rounded Rectangle 38"/>
          <p:cNvSpPr/>
          <p:nvPr/>
        </p:nvSpPr>
        <p:spPr>
          <a:xfrm>
            <a:off x="4434840" y="5138928"/>
            <a:ext cx="2389632" cy="146304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4434840" y="5138928"/>
            <a:ext cx="82296" cy="1463040"/>
          </a:xfrm>
          <a:prstGeom prst="rect">
            <a:avLst/>
          </a:prstGeom>
          <a:solidFill>
            <a:srgbClr val="1C56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636007" y="5230368"/>
            <a:ext cx="2097024" cy="1004890"/>
          </a:xfrm>
          <a:prstGeom prst="rect">
            <a:avLst/>
          </a:prstGeom>
          <a:noFill/>
        </p:spPr>
        <p:txBody>
          <a:bodyPr wrap="square" lIns="36576" tIns="36576" rIns="36576" bIns="36576" anchor="t">
            <a:spAutoFit/>
          </a:bodyPr>
          <a:lstStyle/>
          <a:p>
            <a:pPr algn="l">
              <a:spcAft>
                <a:spcPts val="300"/>
              </a:spcAft>
            </a:pPr>
            <a:r>
              <a:rPr sz="1600" b="1" i="0" dirty="0">
                <a:solidFill>
                  <a:srgbClr val="1C5694"/>
                </a:solidFill>
                <a:latin typeface="Calibri"/>
              </a:rPr>
              <a:t>Review paper</a:t>
            </a:r>
          </a:p>
          <a:p>
            <a:pPr algn="l">
              <a:spcAft>
                <a:spcPts val="300"/>
              </a:spcAft>
            </a:pPr>
            <a:r>
              <a:rPr sz="1400" b="0" i="0" dirty="0">
                <a:solidFill>
                  <a:srgbClr val="1F2937"/>
                </a:solidFill>
                <a:latin typeface="Calibri"/>
              </a:rPr>
              <a:t>'From noise maps to decisions', with the preliminary model results</a:t>
            </a:r>
          </a:p>
        </p:txBody>
      </p:sp>
      <p:sp>
        <p:nvSpPr>
          <p:cNvPr id="42" name="Rounded Rectangle 41"/>
          <p:cNvSpPr/>
          <p:nvPr/>
        </p:nvSpPr>
        <p:spPr>
          <a:xfrm>
            <a:off x="6934200" y="5138928"/>
            <a:ext cx="2389632" cy="146304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934200" y="5138928"/>
            <a:ext cx="82296" cy="1463040"/>
          </a:xfrm>
          <a:prstGeom prst="rect">
            <a:avLst/>
          </a:prstGeom>
          <a:solidFill>
            <a:srgbClr val="CA6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135367" y="5230368"/>
            <a:ext cx="2097024" cy="1004890"/>
          </a:xfrm>
          <a:prstGeom prst="rect">
            <a:avLst/>
          </a:prstGeom>
          <a:noFill/>
        </p:spPr>
        <p:txBody>
          <a:bodyPr wrap="square" lIns="36576" tIns="36576" rIns="36576" bIns="36576" anchor="t">
            <a:spAutoFit/>
          </a:bodyPr>
          <a:lstStyle/>
          <a:p>
            <a:pPr algn="l">
              <a:spcAft>
                <a:spcPts val="300"/>
              </a:spcAft>
            </a:pPr>
            <a:r>
              <a:rPr sz="1600" b="1" i="0" dirty="0">
                <a:solidFill>
                  <a:srgbClr val="CA6C1C"/>
                </a:solidFill>
                <a:latin typeface="Calibri"/>
              </a:rPr>
              <a:t>RESONATE consortium</a:t>
            </a:r>
          </a:p>
          <a:p>
            <a:pPr algn="l">
              <a:spcAft>
                <a:spcPts val="300"/>
              </a:spcAft>
            </a:pPr>
            <a:r>
              <a:rPr sz="1400" b="0" i="0" dirty="0">
                <a:solidFill>
                  <a:srgbClr val="1F2937"/>
                </a:solidFill>
                <a:latin typeface="Calibri"/>
              </a:rPr>
              <a:t>Core team plus acoustics and health partners and living-lab cities</a:t>
            </a:r>
          </a:p>
        </p:txBody>
      </p:sp>
      <p:sp>
        <p:nvSpPr>
          <p:cNvPr id="45" name="Rounded Rectangle 44"/>
          <p:cNvSpPr/>
          <p:nvPr/>
        </p:nvSpPr>
        <p:spPr>
          <a:xfrm>
            <a:off x="9433560" y="5138928"/>
            <a:ext cx="2389632" cy="146304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9433560" y="5138928"/>
            <a:ext cx="82296" cy="1463040"/>
          </a:xfrm>
          <a:prstGeom prst="rect">
            <a:avLst/>
          </a:prstGeom>
          <a:solidFill>
            <a:srgbClr val="2A8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34728" y="5230368"/>
            <a:ext cx="2097024" cy="1004890"/>
          </a:xfrm>
          <a:prstGeom prst="rect">
            <a:avLst/>
          </a:prstGeom>
          <a:noFill/>
        </p:spPr>
        <p:txBody>
          <a:bodyPr wrap="square" lIns="36576" tIns="36576" rIns="36576" bIns="36576" anchor="t">
            <a:spAutoFit/>
          </a:bodyPr>
          <a:lstStyle/>
          <a:p>
            <a:pPr algn="l">
              <a:spcAft>
                <a:spcPts val="300"/>
              </a:spcAft>
            </a:pPr>
            <a:r>
              <a:rPr sz="1600" b="1" i="0" dirty="0">
                <a:solidFill>
                  <a:srgbClr val="2A8450"/>
                </a:solidFill>
                <a:latin typeface="Calibri"/>
              </a:rPr>
              <a:t>Funding calls</a:t>
            </a:r>
          </a:p>
          <a:p>
            <a:pPr algn="l">
              <a:spcAft>
                <a:spcPts val="300"/>
              </a:spcAft>
            </a:pPr>
            <a:r>
              <a:rPr sz="1400" b="0" i="0" dirty="0">
                <a:solidFill>
                  <a:srgbClr val="1F2937"/>
                </a:solidFill>
                <a:latin typeface="Calibri"/>
              </a:rPr>
              <a:t>Connect Fund (£6,000) → Horizon Europe bid; other funds being screened</a:t>
            </a:r>
          </a:p>
        </p:txBody>
      </p:sp>
      <p:sp>
        <p:nvSpPr>
          <p:cNvPr id="48" name="TextBox 47"/>
          <p:cNvSpPr txBox="1"/>
          <p:nvPr/>
        </p:nvSpPr>
        <p:spPr>
          <a:xfrm>
            <a:off x="365760" y="6473952"/>
            <a:ext cx="7315200" cy="274320"/>
          </a:xfrm>
          <a:prstGeom prst="rect">
            <a:avLst/>
          </a:prstGeom>
          <a:noFill/>
        </p:spPr>
        <p:txBody>
          <a:bodyPr wrap="square" lIns="36576" tIns="36576" rIns="36576" bIns="36576" anchor="t">
            <a:spAutoFit/>
          </a:bodyPr>
          <a:lstStyle/>
          <a:p>
            <a:pPr algn="l"/>
            <a:r>
              <a:rPr sz="900" b="0" i="0">
                <a:solidFill>
                  <a:srgbClr val="5B6775"/>
                </a:solidFill>
                <a:latin typeface="Calibri"/>
              </a:rPr>
              <a:t>RESONATE  ·  Imperial College London  ·  Politecnico di Milano  ·  TU Munich</a:t>
            </a:r>
          </a:p>
        </p:txBody>
      </p:sp>
      <p:sp>
        <p:nvSpPr>
          <p:cNvPr id="49" name="TextBox 48"/>
          <p:cNvSpPr txBox="1"/>
          <p:nvPr/>
        </p:nvSpPr>
        <p:spPr>
          <a:xfrm>
            <a:off x="10881360" y="6473952"/>
            <a:ext cx="914400" cy="274320"/>
          </a:xfrm>
          <a:prstGeom prst="rect">
            <a:avLst/>
          </a:prstGeom>
          <a:noFill/>
        </p:spPr>
        <p:txBody>
          <a:bodyPr wrap="square" lIns="36576" tIns="36576" rIns="36576" bIns="36576" anchor="t">
            <a:spAutoFit/>
          </a:bodyPr>
          <a:lstStyle/>
          <a:p>
            <a:pPr algn="r"/>
            <a:r>
              <a:rPr sz="900" b="0" i="0">
                <a:solidFill>
                  <a:srgbClr val="5B6775"/>
                </a:solidFill>
                <a:latin typeface="Calibri"/>
              </a:rPr>
              <a:t>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292</TotalTime>
  <Words>1137</Words>
  <Application>Microsoft Office PowerPoint</Application>
  <PresentationFormat>Widescreen</PresentationFormat>
  <Paragraphs>117</Paragraphs>
  <Slides>4</Slides>
  <Notes>4</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4</vt:i4>
      </vt:variant>
    </vt:vector>
  </HeadingPairs>
  <TitlesOfParts>
    <vt:vector size="7" baseType="lpstr">
      <vt:lpstr>Arial</vt:lpstr>
      <vt:lpstr>Calibri</vt:lpstr>
      <vt:lpstr>Office Theme</vt:lpstr>
      <vt:lpstr>Presentazione standard di PowerPoint</vt:lpstr>
      <vt:lpstr>Presentazione standard di PowerPoint</vt:lpstr>
      <vt:lpstr>Presentazione standard di PowerPoint</vt:lpstr>
      <vt:lpstr>Presentazione standard di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Simone Perottoni</cp:lastModifiedBy>
  <cp:revision>14</cp:revision>
  <dcterms:created xsi:type="dcterms:W3CDTF">2013-01-27T09:14:16Z</dcterms:created>
  <dcterms:modified xsi:type="dcterms:W3CDTF">2026-10-07T23:20:31Z</dcterms:modified>
  <cp:category/>
</cp:coreProperties>
</file>