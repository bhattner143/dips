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56" r:id="rId2"/>
    <p:sldId id="259" r:id="rId3"/>
    <p:sldId id="260" r:id="rId4"/>
    <p:sldId id="258" r:id="rId5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07BDB"/>
    <a:srgbClr val="E8F1FC"/>
    <a:srgbClr val="C3D15D"/>
    <a:srgbClr val="B6C73B"/>
    <a:srgbClr val="93A418"/>
    <a:srgbClr val="595F1A"/>
    <a:srgbClr val="5C7802"/>
    <a:srgbClr val="6DA0C1"/>
    <a:srgbClr val="606B0B"/>
    <a:srgbClr val="3257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1020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Concept video: https://drive.google.com/file/d/1yzD1IRJpNW2sFg2-kVtldFW8rYUzm_k4/view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45D4B8-A4EE-DEE5-B035-40E7DF041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6199A1-46CC-1B32-94DA-C8274632A7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BE9DE1-6135-73CC-F6C0-CFC78F2A04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Concept video: https://drive.google.com/file/d/1yzD1IRJpNW2sFg2-kVtldFW8rYUzm_k4/view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083F28-B0FD-668B-49ED-27FEE110B49B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432328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5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PlaceHolder 3"/>
          <p:cNvSpPr>
            <a:spLocks noGrp="1"/>
          </p:cNvSpPr>
          <p:nvPr>
            <p:ph type="sldNum" idx="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ent rule">
            <a:extLst>
              <a:ext uri="{FF2B5EF4-FFF2-40B4-BE49-F238E27FC236}">
                <a16:creationId xmlns:a16="http://schemas.microsoft.com/office/drawing/2014/main" id="{39A41A49-9340-4C98-BEA8-2C1EA585AA36}"/>
              </a:ext>
            </a:extLst>
          </p:cNvPr>
          <p:cNvSpPr>
            <a:spLocks noGrp="1"/>
          </p:cNvSpPr>
          <p:nvPr/>
        </p:nvSpPr>
        <p:spPr>
          <a:xfrm>
            <a:off x="4343400" y="1657350"/>
            <a:ext cx="457200" cy="28575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2981320F-4A5C-4993-B54D-93BFD290F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943100"/>
            <a:ext cx="7315200" cy="7429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EA8F2EAD-5DBD-4EBB-B345-62145C3DD6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2828925"/>
            <a:ext cx="6400800" cy="5715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ccent rule">
            <a:extLst>
              <a:ext uri="{FF2B5EF4-FFF2-40B4-BE49-F238E27FC236}">
                <a16:creationId xmlns:a16="http://schemas.microsoft.com/office/drawing/2014/main" id="{432A799F-9C6A-4C6C-B48F-6F00DFE0D222}"/>
              </a:ext>
            </a:extLst>
          </p:cNvPr>
          <p:cNvSpPr>
            <a:spLocks noGrp="1"/>
          </p:cNvSpPr>
          <p:nvPr/>
        </p:nvSpPr>
        <p:spPr>
          <a:xfrm>
            <a:off x="4343400" y="1857375"/>
            <a:ext cx="457200" cy="28575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Section title">
            <a:extLst>
              <a:ext uri="{FF2B5EF4-FFF2-40B4-BE49-F238E27FC236}">
                <a16:creationId xmlns:a16="http://schemas.microsoft.com/office/drawing/2014/main" id="{73893870-CFAD-4197-87EE-4797B351F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143125"/>
            <a:ext cx="7315200" cy="8572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ent rule">
            <a:extLst>
              <a:ext uri="{FF2B5EF4-FFF2-40B4-BE49-F238E27FC236}">
                <a16:creationId xmlns:a16="http://schemas.microsoft.com/office/drawing/2014/main" id="{92C4A756-5282-42FF-98CD-8202F285872D}"/>
              </a:ext>
            </a:extLst>
          </p:cNvPr>
          <p:cNvSpPr>
            <a:spLocks noGrp="1"/>
          </p:cNvSpPr>
          <p:nvPr/>
        </p:nvSpPr>
        <p:spPr>
          <a:xfrm>
            <a:off x="514350" y="1143000"/>
            <a:ext cx="457200" cy="28575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1C905DE6-BA58-48DF-8CE3-4ACD77115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50" y="400050"/>
            <a:ext cx="8115300" cy="6286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Body">
            <a:extLst>
              <a:ext uri="{FF2B5EF4-FFF2-40B4-BE49-F238E27FC236}">
                <a16:creationId xmlns:a16="http://schemas.microsoft.com/office/drawing/2014/main" id="{6832154F-3535-4266-8DDA-4FEAC9C3CF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350" y="1428750"/>
            <a:ext cx="8115300" cy="32004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ccent rule">
            <a:extLst>
              <a:ext uri="{FF2B5EF4-FFF2-40B4-BE49-F238E27FC236}">
                <a16:creationId xmlns:a16="http://schemas.microsoft.com/office/drawing/2014/main" id="{AAEC4BE4-D351-4DD0-8B42-F687AFA9E7E3}"/>
              </a:ext>
            </a:extLst>
          </p:cNvPr>
          <p:cNvSpPr>
            <a:spLocks noGrp="1"/>
          </p:cNvSpPr>
          <p:nvPr/>
        </p:nvSpPr>
        <p:spPr>
          <a:xfrm>
            <a:off x="514350" y="1143000"/>
            <a:ext cx="457200" cy="28575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3395EBDA-68E3-4D5E-BBE9-6D459373D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50" y="400050"/>
            <a:ext cx="8115300" cy="6286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Left column">
            <a:extLst>
              <a:ext uri="{FF2B5EF4-FFF2-40B4-BE49-F238E27FC236}">
                <a16:creationId xmlns:a16="http://schemas.microsoft.com/office/drawing/2014/main" id="{9CE9F4A1-0F18-4136-8BF7-CB0855C5DC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350" y="1428750"/>
            <a:ext cx="3771900" cy="32004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>
            <a:endParaRPr/>
          </a:p>
        </p:txBody>
      </p:sp>
      <p:sp>
        <p:nvSpPr>
          <p:cNvPr id="4" name="Right column">
            <a:extLst>
              <a:ext uri="{FF2B5EF4-FFF2-40B4-BE49-F238E27FC236}">
                <a16:creationId xmlns:a16="http://schemas.microsoft.com/office/drawing/2014/main" id="{407241BD-C0BF-4C3C-9EC7-FCBD98233B3A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857750" y="1428750"/>
            <a:ext cx="3771900" cy="32004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ent rule">
            <a:extLst>
              <a:ext uri="{FF2B5EF4-FFF2-40B4-BE49-F238E27FC236}">
                <a16:creationId xmlns:a16="http://schemas.microsoft.com/office/drawing/2014/main" id="{399538D9-A342-4FC7-9F34-0FEF5373353E}"/>
              </a:ext>
            </a:extLst>
          </p:cNvPr>
          <p:cNvSpPr>
            <a:spLocks noGrp="1"/>
          </p:cNvSpPr>
          <p:nvPr/>
        </p:nvSpPr>
        <p:spPr>
          <a:xfrm>
            <a:off x="514350" y="1143000"/>
            <a:ext cx="457200" cy="28575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EBB081C5-4A56-4665-9A94-FE2DE82253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50" y="400050"/>
            <a:ext cx="8115300" cy="6286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Left column">
            <a:extLst>
              <a:ext uri="{FF2B5EF4-FFF2-40B4-BE49-F238E27FC236}">
                <a16:creationId xmlns:a16="http://schemas.microsoft.com/office/drawing/2014/main" id="{B87499E5-50EA-4AD3-A1F2-690FDE3890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350" y="1428750"/>
            <a:ext cx="3771900" cy="32004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title text format</a:t>
            </a: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</a:p>
        </p:txBody>
      </p:sp>
    </p:spTree>
    <p:extLst>
      <p:ext uri="{BB962C8B-B14F-4D97-AF65-F5344CB8AC3E}">
        <p14:creationId xmlns:p14="http://schemas.microsoft.com/office/powerpoint/2010/main" val="36679247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g"/><Relationship Id="rId13" Type="http://schemas.openxmlformats.org/officeDocument/2006/relationships/image" Target="../media/image15.jpg"/><Relationship Id="rId3" Type="http://schemas.openxmlformats.org/officeDocument/2006/relationships/image" Target="../media/image5.jpg"/><Relationship Id="rId7" Type="http://schemas.openxmlformats.org/officeDocument/2006/relationships/image" Target="../media/image9.jpg"/><Relationship Id="rId12" Type="http://schemas.openxmlformats.org/officeDocument/2006/relationships/image" Target="../media/image1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jpg"/><Relationship Id="rId11" Type="http://schemas.openxmlformats.org/officeDocument/2006/relationships/image" Target="../media/image13.jpg"/><Relationship Id="rId5" Type="http://schemas.openxmlformats.org/officeDocument/2006/relationships/image" Target="../media/image7.jpg"/><Relationship Id="rId10" Type="http://schemas.openxmlformats.org/officeDocument/2006/relationships/image" Target="../media/image12.jpg"/><Relationship Id="rId4" Type="http://schemas.openxmlformats.org/officeDocument/2006/relationships/image" Target="../media/image6.jpg"/><Relationship Id="rId9" Type="http://schemas.openxmlformats.org/officeDocument/2006/relationships/image" Target="../media/image11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5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B119A9A-1FAE-4EC2-B8A8-FF998F0C680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071522">
                  <a:alpha val="96000"/>
                </a:srgbClr>
              </a:gs>
              <a:gs pos="43000">
                <a:srgbClr val="071522">
                  <a:alpha val="80000"/>
                </a:srgbClr>
              </a:gs>
              <a:gs pos="72000">
                <a:srgbClr val="071522">
                  <a:alpha val="20000"/>
                </a:srgbClr>
              </a:gs>
              <a:gs pos="100000">
                <a:srgbClr val="071522">
                  <a:alpha val="0"/>
                </a:srgbClr>
              </a:gs>
            </a:gsLst>
            <a:lin ang="0"/>
          </a:gra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275F7EB-74F5-4265-BB3F-D25262C680CB}"/>
              </a:ext>
            </a:extLst>
          </p:cNvPr>
          <p:cNvSpPr>
            <a:spLocks noGrp="1"/>
          </p:cNvSpPr>
          <p:nvPr/>
        </p:nvSpPr>
        <p:spPr>
          <a:xfrm>
            <a:off x="527050" y="1444229"/>
            <a:ext cx="4762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buNone/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SMART-MOLE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679AD1A-DE76-41F7-A702-7CADFD5D6E86}"/>
              </a:ext>
            </a:extLst>
          </p:cNvPr>
          <p:cNvSpPr>
            <a:spLocks noGrp="1"/>
          </p:cNvSpPr>
          <p:nvPr/>
        </p:nvSpPr>
        <p:spPr>
          <a:xfrm>
            <a:off x="546100" y="2215754"/>
            <a:ext cx="4139045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n-GB" sz="2175" b="1" dirty="0">
                <a:solidFill>
                  <a:srgbClr val="FFFFFF"/>
                </a:solidFill>
                <a:latin typeface="Arial"/>
              </a:rPr>
              <a:t>Soil-monitoring Mobile Autonomous Robot for Targeted Management Of post-fire Landslides and Ecosystem restoration</a:t>
            </a:r>
            <a:endParaRPr sz="2175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EA4538A-FAE8-2790-483A-0D7ABD5B62C6}"/>
              </a:ext>
            </a:extLst>
          </p:cNvPr>
          <p:cNvSpPr>
            <a:spLocks noGrp="1"/>
          </p:cNvSpPr>
          <p:nvPr/>
        </p:nvSpPr>
        <p:spPr>
          <a:xfrm>
            <a:off x="527050" y="4479109"/>
            <a:ext cx="5715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1">
                <a:solidFill>
                  <a:srgbClr val="E6EFF5"/>
                </a:solidFill>
                <a:latin typeface="Arial"/>
                <a:ea typeface="Arial"/>
                <a:cs typeface="Arial"/>
              </a:defRPr>
            </a:pPr>
            <a:r>
              <a:rPr lang="en-GB" sz="1200" i="1" dirty="0">
                <a:solidFill>
                  <a:srgbClr val="E6EFF5"/>
                </a:solidFill>
                <a:latin typeface="Arial"/>
                <a:ea typeface="Arial"/>
                <a:cs typeface="Arial"/>
              </a:rPr>
              <a:t>European Talent Academy 2026 – Proposal pitch</a:t>
            </a:r>
            <a:endParaRPr sz="1200" i="1" dirty="0">
              <a:solidFill>
                <a:srgbClr val="E6EFF5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DAB7292-74DC-F1E0-8C2C-D06A04F93D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316" y="133374"/>
            <a:ext cx="931952" cy="68580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6FF15D4-624A-6A36-0F20-381C7B5755B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103" y="447721"/>
            <a:ext cx="1525698" cy="16782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5B6F8D3-1DF5-059C-9D34-DC3B48F66E5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7636" y="301343"/>
            <a:ext cx="931952" cy="485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24666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52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3E4A4E-EABE-D99D-5738-603D7146C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796E709-B2B3-37A5-7DB6-5FC59AF7F9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D190A8EE-C589-1E55-79CB-2C06239CAB6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6C32779D-A25C-2F2D-72A0-E34A75A3533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F49CE03C-8E6E-A809-2BD0-71F10DE063B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F632EBA2-C094-D63E-C28D-886DC555E78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06386C3E-C296-FEA6-A604-C47BC543F4F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B4E00A94-70B2-B616-06C3-22C3DFDCD3F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67BE14BA-AAD8-8DF0-1AFA-CF5BCCD5CA0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67" name="TextBox 66">
            <a:extLst>
              <a:ext uri="{FF2B5EF4-FFF2-40B4-BE49-F238E27FC236}">
                <a16:creationId xmlns:a16="http://schemas.microsoft.com/office/drawing/2014/main" id="{868B48C9-E751-7166-9B76-C61EB04FFDC9}"/>
              </a:ext>
            </a:extLst>
          </p:cNvPr>
          <p:cNvSpPr txBox="1"/>
          <p:nvPr/>
        </p:nvSpPr>
        <p:spPr>
          <a:xfrm>
            <a:off x="1246910" y="187036"/>
            <a:ext cx="152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solidFill>
                  <a:srgbClr val="325784"/>
                </a:solidFill>
              </a:rPr>
              <a:t>MAPPING</a:t>
            </a:r>
          </a:p>
        </p:txBody>
      </p:sp>
      <p:pic>
        <p:nvPicPr>
          <p:cNvPr id="69" name="Picture 68">
            <a:extLst>
              <a:ext uri="{FF2B5EF4-FFF2-40B4-BE49-F238E27FC236}">
                <a16:creationId xmlns:a16="http://schemas.microsoft.com/office/drawing/2014/main" id="{DF9876FA-C9F7-D746-B63D-4A3C5EA7D4E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255"/>
            <a:ext cx="9144000" cy="5143500"/>
          </a:xfrm>
          <a:prstGeom prst="rect">
            <a:avLst/>
          </a:prstGeom>
        </p:spPr>
      </p:pic>
      <p:sp>
        <p:nvSpPr>
          <p:cNvPr id="70" name="TextBox 69">
            <a:extLst>
              <a:ext uri="{FF2B5EF4-FFF2-40B4-BE49-F238E27FC236}">
                <a16:creationId xmlns:a16="http://schemas.microsoft.com/office/drawing/2014/main" id="{D8F2EA1E-6654-44A8-E890-DAF10B4BD149}"/>
              </a:ext>
            </a:extLst>
          </p:cNvPr>
          <p:cNvSpPr txBox="1"/>
          <p:nvPr/>
        </p:nvSpPr>
        <p:spPr>
          <a:xfrm>
            <a:off x="5444836" y="4502727"/>
            <a:ext cx="29149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chemeClr val="bg1"/>
                </a:solidFill>
              </a:rPr>
              <a:t>TARGETED INFILTRATIONS</a:t>
            </a:r>
          </a:p>
        </p:txBody>
      </p:sp>
      <p:pic>
        <p:nvPicPr>
          <p:cNvPr id="72" name="Picture 71">
            <a:extLst>
              <a:ext uri="{FF2B5EF4-FFF2-40B4-BE49-F238E27FC236}">
                <a16:creationId xmlns:a16="http://schemas.microsoft.com/office/drawing/2014/main" id="{080DA146-4A1C-B3CC-9851-84F75D42594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3" name="TextBox 72">
            <a:extLst>
              <a:ext uri="{FF2B5EF4-FFF2-40B4-BE49-F238E27FC236}">
                <a16:creationId xmlns:a16="http://schemas.microsoft.com/office/drawing/2014/main" id="{1C4D82BE-09C0-35DA-47AD-A2A4114AAB79}"/>
              </a:ext>
            </a:extLst>
          </p:cNvPr>
          <p:cNvSpPr txBox="1"/>
          <p:nvPr/>
        </p:nvSpPr>
        <p:spPr>
          <a:xfrm>
            <a:off x="6846900" y="3920836"/>
            <a:ext cx="17928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C3D15D"/>
                </a:solidFill>
              </a:rPr>
              <a:t>REVEGETATION</a:t>
            </a:r>
          </a:p>
        </p:txBody>
      </p:sp>
      <p:pic>
        <p:nvPicPr>
          <p:cNvPr id="75" name="Picture 74">
            <a:extLst>
              <a:ext uri="{FF2B5EF4-FFF2-40B4-BE49-F238E27FC236}">
                <a16:creationId xmlns:a16="http://schemas.microsoft.com/office/drawing/2014/main" id="{92D82602-F15A-EE2C-67B9-9D6C33A59D56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4745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" grpId="0"/>
      <p:bldP spid="70" grpId="0"/>
      <p:bldP spid="7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angle 25"/>
          <p:cNvSpPr/>
          <p:nvPr/>
        </p:nvSpPr>
        <p:spPr>
          <a:xfrm>
            <a:off x="457200" y="285840"/>
            <a:ext cx="6762240" cy="475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2700" b="1" u="none" strike="noStrike">
                <a:solidFill>
                  <a:srgbClr val="10243A"/>
                </a:solidFill>
                <a:effectLst/>
                <a:uFillTx/>
                <a:latin typeface="Arial"/>
                <a:ea typeface="Arial"/>
              </a:rPr>
              <a:t>Towards Horizon Europe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Rectangle 36"/>
          <p:cNvSpPr/>
          <p:nvPr/>
        </p:nvSpPr>
        <p:spPr>
          <a:xfrm>
            <a:off x="457200" y="781200"/>
            <a:ext cx="8229240" cy="25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r>
              <a:rPr lang="en-US" sz="1130" b="1" dirty="0">
                <a:solidFill>
                  <a:srgbClr val="1D6FD8"/>
                </a:solidFill>
                <a:latin typeface="Arial"/>
                <a:ea typeface="Arial"/>
              </a:rPr>
              <a:t>HORIZON-CL6-2027-01-BIODIV-03   •   Technical innovation to protect ecosystems and to scale up their restoration</a:t>
            </a:r>
            <a:endParaRPr lang="en-US" sz="113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Straight Connector 4"/>
          <p:cNvSpPr/>
          <p:nvPr/>
        </p:nvSpPr>
        <p:spPr>
          <a:xfrm>
            <a:off x="457200" y="1095120"/>
            <a:ext cx="8229600" cy="360"/>
          </a:xfrm>
          <a:prstGeom prst="line">
            <a:avLst/>
          </a:prstGeom>
          <a:ln w="9525">
            <a:solidFill>
              <a:srgbClr val="D6E0E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84" name="Straight Connector 6"/>
          <p:cNvSpPr/>
          <p:nvPr/>
        </p:nvSpPr>
        <p:spPr>
          <a:xfrm>
            <a:off x="457200" y="4857480"/>
            <a:ext cx="8229600" cy="360"/>
          </a:xfrm>
          <a:prstGeom prst="line">
            <a:avLst/>
          </a:prstGeom>
          <a:ln w="9525">
            <a:solidFill>
              <a:srgbClr val="D6E0E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85" name="Rectangle 54"/>
          <p:cNvSpPr/>
          <p:nvPr/>
        </p:nvSpPr>
        <p:spPr>
          <a:xfrm>
            <a:off x="457200" y="4915080"/>
            <a:ext cx="4000320" cy="15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820" b="1" u="none" strike="noStrike">
                <a:solidFill>
                  <a:srgbClr val="5C6A75"/>
                </a:solidFill>
                <a:effectLst/>
                <a:uFillTx/>
                <a:latin typeface="Arial"/>
                <a:ea typeface="Arial"/>
              </a:rPr>
              <a:t>SMART-MOLE 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E111245-98FF-5086-53E7-25D024585384}"/>
              </a:ext>
            </a:extLst>
          </p:cNvPr>
          <p:cNvGrpSpPr/>
          <p:nvPr/>
        </p:nvGrpSpPr>
        <p:grpSpPr>
          <a:xfrm>
            <a:off x="980729" y="1227600"/>
            <a:ext cx="7182180" cy="3601260"/>
            <a:chOff x="914220" y="1155780"/>
            <a:chExt cx="7182180" cy="3601260"/>
          </a:xfrm>
        </p:grpSpPr>
        <p:pic>
          <p:nvPicPr>
            <p:cNvPr id="10" name="Picture 3">
              <a:extLst>
                <a:ext uri="{FF2B5EF4-FFF2-40B4-BE49-F238E27FC236}">
                  <a16:creationId xmlns:a16="http://schemas.microsoft.com/office/drawing/2014/main" id="{68B3BD87-4534-FA45-D300-B655E2808952}"/>
                </a:ext>
              </a:extLst>
            </p:cNvPr>
            <p:cNvPicPr/>
            <p:nvPr/>
          </p:nvPicPr>
          <p:blipFill>
            <a:blip r:embed="rId3"/>
            <a:stretch/>
          </p:blipFill>
          <p:spPr>
            <a:xfrm>
              <a:off x="2857320" y="1425240"/>
              <a:ext cx="3429000" cy="33318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1" name="Rectangle 45">
              <a:extLst>
                <a:ext uri="{FF2B5EF4-FFF2-40B4-BE49-F238E27FC236}">
                  <a16:creationId xmlns:a16="http://schemas.microsoft.com/office/drawing/2014/main" id="{4428D233-1388-1567-6CBD-20E516119E3F}"/>
                </a:ext>
              </a:extLst>
            </p:cNvPr>
            <p:cNvSpPr/>
            <p:nvPr/>
          </p:nvSpPr>
          <p:spPr>
            <a:xfrm>
              <a:off x="3514680" y="1155780"/>
              <a:ext cx="2114280" cy="209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r>
                <a:rPr lang="en-US" sz="1050" b="1" u="none" strike="noStrike" dirty="0">
                  <a:solidFill>
                    <a:srgbClr val="5C6A75"/>
                  </a:solidFill>
                  <a:effectLst/>
                  <a:uFillTx/>
                  <a:latin typeface="Arial"/>
                  <a:ea typeface="Arial"/>
                </a:rPr>
                <a:t>SCIENTIFIC CORE</a:t>
              </a:r>
              <a:endParaRPr lang="en-US" sz="105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AFCB6A46-55C4-01EA-F20C-69DF65D7EEC4}"/>
                </a:ext>
              </a:extLst>
            </p:cNvPr>
            <p:cNvGrpSpPr/>
            <p:nvPr/>
          </p:nvGrpSpPr>
          <p:grpSpPr>
            <a:xfrm>
              <a:off x="914400" y="1642370"/>
              <a:ext cx="1942920" cy="1104480"/>
              <a:chOff x="800280" y="1523880"/>
              <a:chExt cx="1942920" cy="1104480"/>
            </a:xfrm>
          </p:grpSpPr>
          <p:sp>
            <p:nvSpPr>
              <p:cNvPr id="28" name="Rectangle: Rounded Corners 23">
                <a:extLst>
                  <a:ext uri="{FF2B5EF4-FFF2-40B4-BE49-F238E27FC236}">
                    <a16:creationId xmlns:a16="http://schemas.microsoft.com/office/drawing/2014/main" id="{CA9016EC-B055-6764-B1C2-B37262542376}"/>
                  </a:ext>
                </a:extLst>
              </p:cNvPr>
              <p:cNvSpPr/>
              <p:nvPr/>
            </p:nvSpPr>
            <p:spPr>
              <a:xfrm>
                <a:off x="800280" y="1523880"/>
                <a:ext cx="1942920" cy="1104480"/>
              </a:xfrm>
              <a:prstGeom prst="roundRect">
                <a:avLst>
                  <a:gd name="adj" fmla="val 10345"/>
                </a:avLst>
              </a:prstGeom>
              <a:solidFill>
                <a:srgbClr val="FFFFFF"/>
              </a:solidFill>
              <a:ln w="9525">
                <a:solidFill>
                  <a:srgbClr val="D6E0E5"/>
                </a:solidFill>
                <a:round/>
              </a:ln>
              <a:effectLst>
                <a:outerShdw blurRad="19080" dist="9360" dir="5400000">
                  <a:srgbClr val="000000">
                    <a:alpha val="6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4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GB" sz="1800" b="0" u="none" strike="noStrike">
                  <a:solidFill>
                    <a:srgbClr val="071522"/>
                  </a:solidFill>
                  <a:effectLst/>
                  <a:uFillTx/>
                  <a:latin typeface="Aptos"/>
                </a:endParaRPr>
              </a:p>
            </p:txBody>
          </p:sp>
          <p:sp>
            <p:nvSpPr>
              <p:cNvPr id="29" name="Rectangle: Rounded Corners 24">
                <a:extLst>
                  <a:ext uri="{FF2B5EF4-FFF2-40B4-BE49-F238E27FC236}">
                    <a16:creationId xmlns:a16="http://schemas.microsoft.com/office/drawing/2014/main" id="{EACF0363-2580-FE0B-6740-745D23407C39}"/>
                  </a:ext>
                </a:extLst>
              </p:cNvPr>
              <p:cNvSpPr/>
              <p:nvPr/>
            </p:nvSpPr>
            <p:spPr>
              <a:xfrm>
                <a:off x="800280" y="1523880"/>
                <a:ext cx="1942920" cy="85320"/>
              </a:xfrm>
              <a:prstGeom prst="roundRect">
                <a:avLst>
                  <a:gd name="adj" fmla="val 50000"/>
                </a:avLst>
              </a:prstGeom>
              <a:solidFill>
                <a:srgbClr val="A97846"/>
              </a:solidFill>
              <a:ln w="0">
                <a:solidFill>
                  <a:srgbClr val="A97846"/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5840" rIns="90000" bIns="15840" anchor="t">
                <a:noAutofit/>
              </a:bodyPr>
              <a:lstStyle/>
              <a:p>
                <a:endParaRPr lang="en-GB" sz="1800" b="0" u="none" strike="noStrike">
                  <a:solidFill>
                    <a:schemeClr val="dk1"/>
                  </a:solidFill>
                  <a:effectLst/>
                  <a:uFillTx/>
                  <a:latin typeface="Aptos"/>
                </a:endParaRPr>
              </a:p>
            </p:txBody>
          </p:sp>
          <p:sp>
            <p:nvSpPr>
              <p:cNvPr id="30" name="Rectangle 46">
                <a:extLst>
                  <a:ext uri="{FF2B5EF4-FFF2-40B4-BE49-F238E27FC236}">
                    <a16:creationId xmlns:a16="http://schemas.microsoft.com/office/drawing/2014/main" id="{518DAF0D-BB7A-AB71-4C7F-D783CBD2E751}"/>
                  </a:ext>
                </a:extLst>
              </p:cNvPr>
              <p:cNvSpPr/>
              <p:nvPr/>
            </p:nvSpPr>
            <p:spPr>
              <a:xfrm>
                <a:off x="933480" y="1676160"/>
                <a:ext cx="1676160" cy="1900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0" tIns="0" rIns="0" bIns="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</a:pPr>
                <a:r>
                  <a:rPr lang="en-US" sz="1130" b="1" u="none" strike="noStrike">
                    <a:solidFill>
                      <a:srgbClr val="10243A"/>
                    </a:solidFill>
                    <a:effectLst/>
                    <a:uFillTx/>
                    <a:latin typeface="Arial"/>
                    <a:ea typeface="Arial"/>
                  </a:rPr>
                  <a:t>IMPERIAL</a:t>
                </a:r>
                <a:endParaRPr lang="en-US" sz="113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" name="Rectangle 47">
                <a:extLst>
                  <a:ext uri="{FF2B5EF4-FFF2-40B4-BE49-F238E27FC236}">
                    <a16:creationId xmlns:a16="http://schemas.microsoft.com/office/drawing/2014/main" id="{3EC9DE76-2590-6FFB-D32F-86618E44EE64}"/>
                  </a:ext>
                </a:extLst>
              </p:cNvPr>
              <p:cNvSpPr/>
              <p:nvPr/>
            </p:nvSpPr>
            <p:spPr>
              <a:xfrm>
                <a:off x="933480" y="1904760"/>
                <a:ext cx="1695240" cy="6282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0" tIns="0" rIns="0" bIns="0" anchor="t">
                <a:noAutofit/>
              </a:bodyPr>
              <a:lstStyle/>
              <a:p>
                <a:pPr defTabSz="914400">
                  <a:lnSpc>
                    <a:spcPct val="115000"/>
                  </a:lnSpc>
                </a:pPr>
                <a:r>
                  <a:rPr lang="en-US" sz="980" u="none" strike="noStrike" dirty="0">
                    <a:solidFill>
                      <a:srgbClr val="5C6A75"/>
                    </a:solidFill>
                    <a:effectLst/>
                    <a:uFillTx/>
                    <a:latin typeface="Arial"/>
                    <a:ea typeface="Arial"/>
                  </a:rPr>
                  <a:t>Casarella · soil mechanics</a:t>
                </a:r>
                <a:endParaRPr lang="en-US" sz="980" u="none" strike="noStrike" dirty="0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31EF05C8-2A2D-5E23-C1B4-6566919A2183}"/>
                </a:ext>
              </a:extLst>
            </p:cNvPr>
            <p:cNvGrpSpPr/>
            <p:nvPr/>
          </p:nvGrpSpPr>
          <p:grpSpPr>
            <a:xfrm>
              <a:off x="6153480" y="1642941"/>
              <a:ext cx="1942920" cy="1104480"/>
              <a:chOff x="6058080" y="1523880"/>
              <a:chExt cx="1942920" cy="1104480"/>
            </a:xfrm>
          </p:grpSpPr>
          <p:sp>
            <p:nvSpPr>
              <p:cNvPr id="24" name="Rectangle: Rounded Corners 20">
                <a:extLst>
                  <a:ext uri="{FF2B5EF4-FFF2-40B4-BE49-F238E27FC236}">
                    <a16:creationId xmlns:a16="http://schemas.microsoft.com/office/drawing/2014/main" id="{C7250598-8684-C74B-0F24-0634FB96724F}"/>
                  </a:ext>
                </a:extLst>
              </p:cNvPr>
              <p:cNvSpPr/>
              <p:nvPr/>
            </p:nvSpPr>
            <p:spPr>
              <a:xfrm>
                <a:off x="6058080" y="1523880"/>
                <a:ext cx="1942920" cy="1104480"/>
              </a:xfrm>
              <a:prstGeom prst="roundRect">
                <a:avLst>
                  <a:gd name="adj" fmla="val 10345"/>
                </a:avLst>
              </a:prstGeom>
              <a:solidFill>
                <a:srgbClr val="FFFFFF"/>
              </a:solidFill>
              <a:ln w="9525">
                <a:solidFill>
                  <a:srgbClr val="D6E0E5"/>
                </a:solidFill>
                <a:round/>
              </a:ln>
              <a:effectLst>
                <a:outerShdw blurRad="19080" dist="9360" dir="5400000">
                  <a:srgbClr val="000000">
                    <a:alpha val="6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4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GB" sz="1800" b="0" u="none" strike="noStrike">
                  <a:solidFill>
                    <a:srgbClr val="071522"/>
                  </a:solidFill>
                  <a:effectLst/>
                  <a:uFillTx/>
                  <a:latin typeface="Aptos"/>
                </a:endParaRPr>
              </a:p>
            </p:txBody>
          </p:sp>
          <p:sp>
            <p:nvSpPr>
              <p:cNvPr id="25" name="Rectangle: Rounded Corners 26">
                <a:extLst>
                  <a:ext uri="{FF2B5EF4-FFF2-40B4-BE49-F238E27FC236}">
                    <a16:creationId xmlns:a16="http://schemas.microsoft.com/office/drawing/2014/main" id="{E72C382B-DD73-AF55-E8CE-28216E7B253E}"/>
                  </a:ext>
                </a:extLst>
              </p:cNvPr>
              <p:cNvSpPr/>
              <p:nvPr/>
            </p:nvSpPr>
            <p:spPr>
              <a:xfrm>
                <a:off x="6058080" y="1523880"/>
                <a:ext cx="1942920" cy="85320"/>
              </a:xfrm>
              <a:prstGeom prst="roundRect">
                <a:avLst>
                  <a:gd name="adj" fmla="val 50000"/>
                </a:avLst>
              </a:prstGeom>
              <a:solidFill>
                <a:srgbClr val="1D6FD8"/>
              </a:solidFill>
              <a:ln w="0">
                <a:solidFill>
                  <a:srgbClr val="1D6FD8"/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5840" rIns="90000" bIns="15840" anchor="t">
                <a:noAutofit/>
              </a:bodyPr>
              <a:lstStyle/>
              <a:p>
                <a:endParaRPr lang="en-GB" sz="1800" b="0" u="none" strike="noStrike">
                  <a:solidFill>
                    <a:schemeClr val="dk1"/>
                  </a:solidFill>
                  <a:effectLst/>
                  <a:uFillTx/>
                  <a:latin typeface="Aptos"/>
                </a:endParaRPr>
              </a:p>
            </p:txBody>
          </p:sp>
          <p:sp>
            <p:nvSpPr>
              <p:cNvPr id="26" name="Rectangle 48">
                <a:extLst>
                  <a:ext uri="{FF2B5EF4-FFF2-40B4-BE49-F238E27FC236}">
                    <a16:creationId xmlns:a16="http://schemas.microsoft.com/office/drawing/2014/main" id="{F47319C1-B166-C4D0-67C3-EAFA454FE414}"/>
                  </a:ext>
                </a:extLst>
              </p:cNvPr>
              <p:cNvSpPr/>
              <p:nvPr/>
            </p:nvSpPr>
            <p:spPr>
              <a:xfrm>
                <a:off x="6191280" y="1676160"/>
                <a:ext cx="1676160" cy="1900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0" tIns="0" rIns="0" bIns="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</a:pPr>
                <a:r>
                  <a:rPr lang="en-US" sz="1130" b="1" u="none" strike="noStrike">
                    <a:solidFill>
                      <a:srgbClr val="10243A"/>
                    </a:solidFill>
                    <a:effectLst/>
                    <a:uFillTx/>
                    <a:latin typeface="Arial"/>
                    <a:ea typeface="Arial"/>
                  </a:rPr>
                  <a:t>POLIMI/IMPERIAL</a:t>
                </a:r>
                <a:endParaRPr lang="en-US" sz="113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" name="Rectangle 49">
                <a:extLst>
                  <a:ext uri="{FF2B5EF4-FFF2-40B4-BE49-F238E27FC236}">
                    <a16:creationId xmlns:a16="http://schemas.microsoft.com/office/drawing/2014/main" id="{186175C1-F07E-EB35-F4C4-AE4C1F7E4B2B}"/>
                  </a:ext>
                </a:extLst>
              </p:cNvPr>
              <p:cNvSpPr/>
              <p:nvPr/>
            </p:nvSpPr>
            <p:spPr>
              <a:xfrm>
                <a:off x="6191279" y="1904760"/>
                <a:ext cx="1754541" cy="6282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0" tIns="0" rIns="0" bIns="0" anchor="t">
                <a:noAutofit/>
              </a:bodyPr>
              <a:lstStyle/>
              <a:p>
                <a:pPr defTabSz="914400">
                  <a:lnSpc>
                    <a:spcPct val="115000"/>
                  </a:lnSpc>
                </a:pPr>
                <a:r>
                  <a:rPr lang="en-US" sz="980" u="none" strike="noStrike" dirty="0" err="1">
                    <a:solidFill>
                      <a:srgbClr val="5C6A75"/>
                    </a:solidFill>
                    <a:effectLst/>
                    <a:uFillTx/>
                    <a:latin typeface="Arial"/>
                    <a:ea typeface="Arial"/>
                  </a:rPr>
                  <a:t>Mentasti</a:t>
                </a:r>
                <a:r>
                  <a:rPr lang="en-US" sz="980" u="none" strike="noStrike" dirty="0">
                    <a:solidFill>
                      <a:srgbClr val="5C6A75"/>
                    </a:solidFill>
                    <a:effectLst/>
                    <a:uFillTx/>
                    <a:latin typeface="Arial"/>
                    <a:ea typeface="Arial"/>
                  </a:rPr>
                  <a:t> · autonomy &amp; sensing</a:t>
                </a:r>
                <a:endParaRPr lang="en-US" sz="980" b="0" u="none" strike="noStrike" dirty="0">
                  <a:solidFill>
                    <a:srgbClr val="5C6A75"/>
                  </a:solidFill>
                  <a:effectLst/>
                  <a:uFillTx/>
                  <a:latin typeface="Arial"/>
                  <a:ea typeface="Arial"/>
                </a:endParaRPr>
              </a:p>
              <a:p>
                <a:pPr defTabSz="914400">
                  <a:lnSpc>
                    <a:spcPct val="115000"/>
                  </a:lnSpc>
                </a:pPr>
                <a:r>
                  <a:rPr lang="en-US" sz="980" u="none" strike="noStrike" dirty="0">
                    <a:solidFill>
                      <a:srgbClr val="5C6A75"/>
                    </a:solidFill>
                    <a:effectLst/>
                    <a:uFillTx/>
                    <a:latin typeface="Arial"/>
                    <a:ea typeface="Arial"/>
                  </a:rPr>
                  <a:t>Bhattacharya · vision &amp; ML</a:t>
                </a:r>
                <a:endParaRPr lang="en-US" sz="980" u="none" strike="noStrike" dirty="0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14400">
                  <a:lnSpc>
                    <a:spcPct val="115000"/>
                  </a:lnSpc>
                </a:pPr>
                <a:endParaRPr lang="en-US" sz="98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4DB38D82-6D83-FCFA-FA4C-005E897D9D70}"/>
                </a:ext>
              </a:extLst>
            </p:cNvPr>
            <p:cNvGrpSpPr/>
            <p:nvPr/>
          </p:nvGrpSpPr>
          <p:grpSpPr>
            <a:xfrm>
              <a:off x="6153480" y="3244022"/>
              <a:ext cx="1942920" cy="1104480"/>
              <a:chOff x="6058080" y="3200400"/>
              <a:chExt cx="1942920" cy="1104480"/>
            </a:xfrm>
          </p:grpSpPr>
          <p:sp>
            <p:nvSpPr>
              <p:cNvPr id="20" name="Rectangle: Rounded Corners 16">
                <a:extLst>
                  <a:ext uri="{FF2B5EF4-FFF2-40B4-BE49-F238E27FC236}">
                    <a16:creationId xmlns:a16="http://schemas.microsoft.com/office/drawing/2014/main" id="{A549C26E-32CD-C899-4C8D-717DBDB68294}"/>
                  </a:ext>
                </a:extLst>
              </p:cNvPr>
              <p:cNvSpPr/>
              <p:nvPr/>
            </p:nvSpPr>
            <p:spPr>
              <a:xfrm>
                <a:off x="6058080" y="3200400"/>
                <a:ext cx="1942920" cy="1104480"/>
              </a:xfrm>
              <a:prstGeom prst="roundRect">
                <a:avLst>
                  <a:gd name="adj" fmla="val 10345"/>
                </a:avLst>
              </a:prstGeom>
              <a:solidFill>
                <a:srgbClr val="FFFFFF"/>
              </a:solidFill>
              <a:ln w="9525">
                <a:solidFill>
                  <a:srgbClr val="D6E0E5"/>
                </a:solidFill>
                <a:round/>
              </a:ln>
              <a:effectLst>
                <a:outerShdw blurRad="19080" dist="9360" dir="5400000">
                  <a:srgbClr val="000000">
                    <a:alpha val="6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4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GB" sz="1800" b="0" u="none" strike="noStrike">
                  <a:solidFill>
                    <a:srgbClr val="071522"/>
                  </a:solidFill>
                  <a:effectLst/>
                  <a:uFillTx/>
                  <a:latin typeface="Aptos"/>
                </a:endParaRPr>
              </a:p>
            </p:txBody>
          </p:sp>
          <p:sp>
            <p:nvSpPr>
              <p:cNvPr id="21" name="Rectangle: Rounded Corners 27">
                <a:extLst>
                  <a:ext uri="{FF2B5EF4-FFF2-40B4-BE49-F238E27FC236}">
                    <a16:creationId xmlns:a16="http://schemas.microsoft.com/office/drawing/2014/main" id="{5EA75A4C-B1E7-3E3E-A9D6-CC7FA80D7067}"/>
                  </a:ext>
                </a:extLst>
              </p:cNvPr>
              <p:cNvSpPr/>
              <p:nvPr/>
            </p:nvSpPr>
            <p:spPr>
              <a:xfrm>
                <a:off x="6058080" y="3200400"/>
                <a:ext cx="1942920" cy="85320"/>
              </a:xfrm>
              <a:prstGeom prst="roundRect">
                <a:avLst>
                  <a:gd name="adj" fmla="val 50000"/>
                </a:avLst>
              </a:prstGeom>
              <a:solidFill>
                <a:srgbClr val="159A9C"/>
              </a:solidFill>
              <a:ln w="0">
                <a:solidFill>
                  <a:srgbClr val="159A9C"/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5840" rIns="90000" bIns="15840" anchor="t">
                <a:noAutofit/>
              </a:bodyPr>
              <a:lstStyle/>
              <a:p>
                <a:endParaRPr lang="en-GB" sz="1800" b="0" u="none" strike="noStrike">
                  <a:solidFill>
                    <a:schemeClr val="dk1"/>
                  </a:solidFill>
                  <a:effectLst/>
                  <a:uFillTx/>
                  <a:latin typeface="Aptos"/>
                </a:endParaRPr>
              </a:p>
            </p:txBody>
          </p:sp>
          <p:sp>
            <p:nvSpPr>
              <p:cNvPr id="22" name="Rectangle 50">
                <a:extLst>
                  <a:ext uri="{FF2B5EF4-FFF2-40B4-BE49-F238E27FC236}">
                    <a16:creationId xmlns:a16="http://schemas.microsoft.com/office/drawing/2014/main" id="{40817409-BB58-4013-390B-966489EE4F3C}"/>
                  </a:ext>
                </a:extLst>
              </p:cNvPr>
              <p:cNvSpPr/>
              <p:nvPr/>
            </p:nvSpPr>
            <p:spPr>
              <a:xfrm>
                <a:off x="6191280" y="3352680"/>
                <a:ext cx="1676160" cy="1900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0" tIns="0" rIns="0" bIns="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</a:pPr>
                <a:r>
                  <a:rPr lang="en-US" sz="1130" b="1" u="none" strike="noStrike">
                    <a:solidFill>
                      <a:srgbClr val="10243A"/>
                    </a:solidFill>
                    <a:effectLst/>
                    <a:uFillTx/>
                    <a:latin typeface="Arial"/>
                    <a:ea typeface="Arial"/>
                  </a:rPr>
                  <a:t>POLIMI</a:t>
                </a:r>
                <a:endParaRPr lang="en-US" sz="113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" name="Rectangle 51">
                <a:extLst>
                  <a:ext uri="{FF2B5EF4-FFF2-40B4-BE49-F238E27FC236}">
                    <a16:creationId xmlns:a16="http://schemas.microsoft.com/office/drawing/2014/main" id="{C0D8025A-BC2E-8F6E-8239-5D5166EED9BD}"/>
                  </a:ext>
                </a:extLst>
              </p:cNvPr>
              <p:cNvSpPr/>
              <p:nvPr/>
            </p:nvSpPr>
            <p:spPr>
              <a:xfrm>
                <a:off x="6191280" y="3581280"/>
                <a:ext cx="1695240" cy="6282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0" tIns="0" rIns="0" bIns="0" anchor="t">
                <a:noAutofit/>
              </a:bodyPr>
              <a:lstStyle/>
              <a:p>
                <a:pPr defTabSz="914400">
                  <a:lnSpc>
                    <a:spcPct val="115000"/>
                  </a:lnSpc>
                </a:pPr>
                <a:r>
                  <a:rPr lang="en-US" sz="980" b="0" u="none" strike="noStrike">
                    <a:solidFill>
                      <a:srgbClr val="5C6A75"/>
                    </a:solidFill>
                    <a:effectLst/>
                    <a:uFillTx/>
                    <a:latin typeface="Arial"/>
                    <a:ea typeface="Arial"/>
                  </a:rPr>
                  <a:t>Botteghi · digital twin &amp; control</a:t>
                </a:r>
                <a:endParaRPr lang="en-US" sz="98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E5164086-1A4D-2271-FDF6-DFD44584286F}"/>
                </a:ext>
              </a:extLst>
            </p:cNvPr>
            <p:cNvGrpSpPr/>
            <p:nvPr/>
          </p:nvGrpSpPr>
          <p:grpSpPr>
            <a:xfrm>
              <a:off x="914220" y="3244022"/>
              <a:ext cx="1942920" cy="1104480"/>
              <a:chOff x="800280" y="3200400"/>
              <a:chExt cx="1942920" cy="1104480"/>
            </a:xfrm>
          </p:grpSpPr>
          <p:sp>
            <p:nvSpPr>
              <p:cNvPr id="16" name="Rectangle: Rounded Corners 15">
                <a:extLst>
                  <a:ext uri="{FF2B5EF4-FFF2-40B4-BE49-F238E27FC236}">
                    <a16:creationId xmlns:a16="http://schemas.microsoft.com/office/drawing/2014/main" id="{61BC1E39-DFC6-B864-6751-F706D8A8243B}"/>
                  </a:ext>
                </a:extLst>
              </p:cNvPr>
              <p:cNvSpPr/>
              <p:nvPr/>
            </p:nvSpPr>
            <p:spPr>
              <a:xfrm>
                <a:off x="800280" y="3200400"/>
                <a:ext cx="1942920" cy="1104480"/>
              </a:xfrm>
              <a:prstGeom prst="roundRect">
                <a:avLst>
                  <a:gd name="adj" fmla="val 10345"/>
                </a:avLst>
              </a:prstGeom>
              <a:solidFill>
                <a:srgbClr val="FFFFFF"/>
              </a:solidFill>
              <a:ln w="9525">
                <a:solidFill>
                  <a:srgbClr val="D6E0E5"/>
                </a:solidFill>
                <a:round/>
              </a:ln>
              <a:effectLst>
                <a:outerShdw blurRad="19080" dist="9360" dir="5400000">
                  <a:srgbClr val="000000">
                    <a:alpha val="6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4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GB" sz="1800" b="0" u="none" strike="noStrike">
                  <a:solidFill>
                    <a:srgbClr val="071522"/>
                  </a:solidFill>
                  <a:effectLst/>
                  <a:uFillTx/>
                  <a:latin typeface="Aptos"/>
                </a:endParaRPr>
              </a:p>
            </p:txBody>
          </p:sp>
          <p:sp>
            <p:nvSpPr>
              <p:cNvPr id="17" name="Rectangle: Rounded Corners 28">
                <a:extLst>
                  <a:ext uri="{FF2B5EF4-FFF2-40B4-BE49-F238E27FC236}">
                    <a16:creationId xmlns:a16="http://schemas.microsoft.com/office/drawing/2014/main" id="{064363F5-989A-154A-2709-08D7547810AD}"/>
                  </a:ext>
                </a:extLst>
              </p:cNvPr>
              <p:cNvSpPr/>
              <p:nvPr/>
            </p:nvSpPr>
            <p:spPr>
              <a:xfrm>
                <a:off x="800280" y="3200400"/>
                <a:ext cx="1942920" cy="85320"/>
              </a:xfrm>
              <a:prstGeom prst="roundRect">
                <a:avLst>
                  <a:gd name="adj" fmla="val 50000"/>
                </a:avLst>
              </a:prstGeom>
              <a:solidFill>
                <a:srgbClr val="4C8A43"/>
              </a:solidFill>
              <a:ln w="0">
                <a:solidFill>
                  <a:srgbClr val="4C8A43"/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5840" rIns="90000" bIns="15840" anchor="t">
                <a:noAutofit/>
              </a:bodyPr>
              <a:lstStyle/>
              <a:p>
                <a:endParaRPr lang="en-GB" sz="1800" b="0" u="none" strike="noStrike">
                  <a:solidFill>
                    <a:schemeClr val="dk1"/>
                  </a:solidFill>
                  <a:effectLst/>
                  <a:uFillTx/>
                  <a:latin typeface="Aptos"/>
                </a:endParaRPr>
              </a:p>
            </p:txBody>
          </p:sp>
          <p:sp>
            <p:nvSpPr>
              <p:cNvPr id="18" name="Rectangle 52">
                <a:extLst>
                  <a:ext uri="{FF2B5EF4-FFF2-40B4-BE49-F238E27FC236}">
                    <a16:creationId xmlns:a16="http://schemas.microsoft.com/office/drawing/2014/main" id="{F117D02B-C5CB-C00B-517A-91615A4E1878}"/>
                  </a:ext>
                </a:extLst>
              </p:cNvPr>
              <p:cNvSpPr/>
              <p:nvPr/>
            </p:nvSpPr>
            <p:spPr>
              <a:xfrm>
                <a:off x="933480" y="3352680"/>
                <a:ext cx="1676160" cy="1900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0" tIns="0" rIns="0" bIns="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</a:pPr>
                <a:r>
                  <a:rPr lang="en-US" sz="1130" b="1" u="none" strike="noStrike">
                    <a:solidFill>
                      <a:srgbClr val="10243A"/>
                    </a:solidFill>
                    <a:effectLst/>
                    <a:uFillTx/>
                    <a:latin typeface="Arial"/>
                    <a:ea typeface="Arial"/>
                  </a:rPr>
                  <a:t>TUM</a:t>
                </a:r>
                <a:endParaRPr lang="en-US" sz="113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" name="Rectangle 53">
                <a:extLst>
                  <a:ext uri="{FF2B5EF4-FFF2-40B4-BE49-F238E27FC236}">
                    <a16:creationId xmlns:a16="http://schemas.microsoft.com/office/drawing/2014/main" id="{0DF3E05A-FC47-8F77-A0F0-EF2C3CC71337}"/>
                  </a:ext>
                </a:extLst>
              </p:cNvPr>
              <p:cNvSpPr/>
              <p:nvPr/>
            </p:nvSpPr>
            <p:spPr>
              <a:xfrm>
                <a:off x="933480" y="3581280"/>
                <a:ext cx="1695240" cy="6282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0" tIns="0" rIns="0" bIns="0" anchor="t">
                <a:noAutofit/>
              </a:bodyPr>
              <a:lstStyle/>
              <a:p>
                <a:pPr defTabSz="914400">
                  <a:lnSpc>
                    <a:spcPct val="115000"/>
                  </a:lnSpc>
                </a:pPr>
                <a:r>
                  <a:rPr lang="en-US" sz="980" u="none" strike="noStrike" dirty="0">
                    <a:solidFill>
                      <a:srgbClr val="5C6A75"/>
                    </a:solidFill>
                    <a:effectLst/>
                    <a:uFillTx/>
                    <a:latin typeface="Arial"/>
                    <a:ea typeface="Arial"/>
                  </a:rPr>
                  <a:t>Rojas-Botero · restoration</a:t>
                </a:r>
                <a:endParaRPr lang="en-US" sz="980" u="none" strike="noStrike" dirty="0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14400">
                  <a:lnSpc>
                    <a:spcPct val="115000"/>
                  </a:lnSpc>
                </a:pPr>
                <a:endParaRPr lang="en-US" sz="98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61855299-7355-A83D-8823-F35505949CB8}"/>
              </a:ext>
            </a:extLst>
          </p:cNvPr>
          <p:cNvGrpSpPr/>
          <p:nvPr/>
        </p:nvGrpSpPr>
        <p:grpSpPr>
          <a:xfrm>
            <a:off x="980729" y="1227600"/>
            <a:ext cx="7182180" cy="3601260"/>
            <a:chOff x="914220" y="1155780"/>
            <a:chExt cx="7182180" cy="3601260"/>
          </a:xfrm>
        </p:grpSpPr>
        <p:pic>
          <p:nvPicPr>
            <p:cNvPr id="33" name="Picture 3">
              <a:extLst>
                <a:ext uri="{FF2B5EF4-FFF2-40B4-BE49-F238E27FC236}">
                  <a16:creationId xmlns:a16="http://schemas.microsoft.com/office/drawing/2014/main" id="{0D3FB52A-AC54-6584-5200-125DF359F0F6}"/>
                </a:ext>
              </a:extLst>
            </p:cNvPr>
            <p:cNvPicPr/>
            <p:nvPr/>
          </p:nvPicPr>
          <p:blipFill>
            <a:blip r:embed="rId3"/>
            <a:stretch/>
          </p:blipFill>
          <p:spPr>
            <a:xfrm>
              <a:off x="2857320" y="1425240"/>
              <a:ext cx="3429000" cy="33318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34" name="Rectangle 45">
              <a:extLst>
                <a:ext uri="{FF2B5EF4-FFF2-40B4-BE49-F238E27FC236}">
                  <a16:creationId xmlns:a16="http://schemas.microsoft.com/office/drawing/2014/main" id="{6177CDF2-3DA9-8E7D-9CC9-83B985BAD101}"/>
                </a:ext>
              </a:extLst>
            </p:cNvPr>
            <p:cNvSpPr/>
            <p:nvPr/>
          </p:nvSpPr>
          <p:spPr>
            <a:xfrm>
              <a:off x="3514680" y="1155780"/>
              <a:ext cx="2114280" cy="209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r>
                <a:rPr lang="en-US" sz="1050" b="1" u="none" strike="noStrike" dirty="0">
                  <a:solidFill>
                    <a:srgbClr val="5C6A75"/>
                  </a:solidFill>
                  <a:effectLst/>
                  <a:uFillTx/>
                  <a:latin typeface="Arial"/>
                  <a:ea typeface="Arial"/>
                </a:rPr>
                <a:t>SCIENTIFIC CORE</a:t>
              </a:r>
              <a:endParaRPr lang="en-US" sz="105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C25AC530-8B91-B312-F03E-1A0814A3EDCE}"/>
                </a:ext>
              </a:extLst>
            </p:cNvPr>
            <p:cNvGrpSpPr/>
            <p:nvPr/>
          </p:nvGrpSpPr>
          <p:grpSpPr>
            <a:xfrm>
              <a:off x="914400" y="1642370"/>
              <a:ext cx="1942920" cy="1104480"/>
              <a:chOff x="800280" y="1523880"/>
              <a:chExt cx="1942920" cy="1104480"/>
            </a:xfrm>
          </p:grpSpPr>
          <p:sp>
            <p:nvSpPr>
              <p:cNvPr id="51" name="Rectangle: Rounded Corners 23">
                <a:extLst>
                  <a:ext uri="{FF2B5EF4-FFF2-40B4-BE49-F238E27FC236}">
                    <a16:creationId xmlns:a16="http://schemas.microsoft.com/office/drawing/2014/main" id="{2A7D85D4-8FE2-FB46-D22E-3687906AC35F}"/>
                  </a:ext>
                </a:extLst>
              </p:cNvPr>
              <p:cNvSpPr/>
              <p:nvPr/>
            </p:nvSpPr>
            <p:spPr>
              <a:xfrm>
                <a:off x="800280" y="1523880"/>
                <a:ext cx="1942920" cy="1104480"/>
              </a:xfrm>
              <a:prstGeom prst="roundRect">
                <a:avLst>
                  <a:gd name="adj" fmla="val 10345"/>
                </a:avLst>
              </a:prstGeom>
              <a:solidFill>
                <a:srgbClr val="FFFFFF"/>
              </a:solidFill>
              <a:ln w="9525">
                <a:solidFill>
                  <a:srgbClr val="D6E0E5"/>
                </a:solidFill>
                <a:round/>
              </a:ln>
              <a:effectLst>
                <a:outerShdw blurRad="19080" dist="9360" dir="5400000">
                  <a:srgbClr val="000000">
                    <a:alpha val="6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4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GB" sz="1800" b="0" u="none" strike="noStrike">
                  <a:solidFill>
                    <a:srgbClr val="071522"/>
                  </a:solidFill>
                  <a:effectLst/>
                  <a:uFillTx/>
                  <a:latin typeface="Aptos"/>
                </a:endParaRPr>
              </a:p>
            </p:txBody>
          </p:sp>
          <p:sp>
            <p:nvSpPr>
              <p:cNvPr id="52" name="Rectangle: Rounded Corners 24">
                <a:extLst>
                  <a:ext uri="{FF2B5EF4-FFF2-40B4-BE49-F238E27FC236}">
                    <a16:creationId xmlns:a16="http://schemas.microsoft.com/office/drawing/2014/main" id="{1E8D4253-2B43-6BC4-0EB4-59BC6CD5633E}"/>
                  </a:ext>
                </a:extLst>
              </p:cNvPr>
              <p:cNvSpPr/>
              <p:nvPr/>
            </p:nvSpPr>
            <p:spPr>
              <a:xfrm>
                <a:off x="800280" y="1523880"/>
                <a:ext cx="1942920" cy="85320"/>
              </a:xfrm>
              <a:prstGeom prst="roundRect">
                <a:avLst>
                  <a:gd name="adj" fmla="val 50000"/>
                </a:avLst>
              </a:prstGeom>
              <a:solidFill>
                <a:srgbClr val="A97846"/>
              </a:solidFill>
              <a:ln w="0">
                <a:solidFill>
                  <a:srgbClr val="A97846"/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5840" rIns="90000" bIns="15840" anchor="t">
                <a:noAutofit/>
              </a:bodyPr>
              <a:lstStyle/>
              <a:p>
                <a:endParaRPr lang="en-GB" sz="1800" b="0" u="none" strike="noStrike">
                  <a:solidFill>
                    <a:schemeClr val="dk1"/>
                  </a:solidFill>
                  <a:effectLst/>
                  <a:uFillTx/>
                  <a:latin typeface="Aptos"/>
                </a:endParaRPr>
              </a:p>
            </p:txBody>
          </p:sp>
          <p:sp>
            <p:nvSpPr>
              <p:cNvPr id="53" name="Rectangle 46">
                <a:extLst>
                  <a:ext uri="{FF2B5EF4-FFF2-40B4-BE49-F238E27FC236}">
                    <a16:creationId xmlns:a16="http://schemas.microsoft.com/office/drawing/2014/main" id="{433BAEA6-0E65-1BC6-EFBE-3B979D77490F}"/>
                  </a:ext>
                </a:extLst>
              </p:cNvPr>
              <p:cNvSpPr/>
              <p:nvPr/>
            </p:nvSpPr>
            <p:spPr>
              <a:xfrm>
                <a:off x="933480" y="1676160"/>
                <a:ext cx="1676160" cy="1900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0" tIns="0" rIns="0" bIns="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</a:pPr>
                <a:r>
                  <a:rPr lang="en-US" sz="1130" b="1" u="none" strike="noStrike" dirty="0">
                    <a:solidFill>
                      <a:srgbClr val="10243A"/>
                    </a:solidFill>
                    <a:effectLst/>
                    <a:uFillTx/>
                    <a:latin typeface="Arial"/>
                    <a:ea typeface="Arial"/>
                  </a:rPr>
                  <a:t>IMPERIAL</a:t>
                </a:r>
                <a:endParaRPr lang="en-US" sz="113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4" name="Rectangle 47">
                <a:extLst>
                  <a:ext uri="{FF2B5EF4-FFF2-40B4-BE49-F238E27FC236}">
                    <a16:creationId xmlns:a16="http://schemas.microsoft.com/office/drawing/2014/main" id="{A978400A-FC77-2743-130B-D45EDBB09434}"/>
                  </a:ext>
                </a:extLst>
              </p:cNvPr>
              <p:cNvSpPr/>
              <p:nvPr/>
            </p:nvSpPr>
            <p:spPr>
              <a:xfrm>
                <a:off x="933480" y="1904760"/>
                <a:ext cx="1695240" cy="6282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0" tIns="0" rIns="0" bIns="0" anchor="t">
                <a:noAutofit/>
              </a:bodyPr>
              <a:lstStyle/>
              <a:p>
                <a:pPr defTabSz="914400">
                  <a:lnSpc>
                    <a:spcPct val="115000"/>
                  </a:lnSpc>
                </a:pPr>
                <a:r>
                  <a:rPr lang="en-US" sz="980" b="0" u="none" strike="noStrike" dirty="0">
                    <a:solidFill>
                      <a:srgbClr val="5C6A75"/>
                    </a:solidFill>
                    <a:effectLst/>
                    <a:uFillTx/>
                    <a:latin typeface="Arial"/>
                    <a:ea typeface="Arial"/>
                  </a:rPr>
                  <a:t>Casarella · soil mechanics</a:t>
                </a:r>
                <a:endParaRPr lang="en-US" sz="980" dirty="0">
                  <a:solidFill>
                    <a:srgbClr val="5C6A75"/>
                  </a:solidFill>
                  <a:latin typeface="Arial"/>
                </a:endParaRPr>
              </a:p>
              <a:p>
                <a:pPr>
                  <a:lnSpc>
                    <a:spcPct val="115000"/>
                  </a:lnSpc>
                </a:pPr>
                <a:r>
                  <a:rPr lang="en-US" sz="980" b="1" u="none" strike="noStrike" dirty="0" err="1">
                    <a:solidFill>
                      <a:srgbClr val="5C6A75"/>
                    </a:solidFill>
                    <a:effectLst/>
                    <a:uFillTx/>
                    <a:latin typeface="Arial"/>
                    <a:ea typeface="Arial"/>
                  </a:rPr>
                  <a:t>Tsiampousi</a:t>
                </a:r>
                <a:r>
                  <a:rPr lang="en-US" sz="980" b="1" u="none" strike="noStrike" dirty="0">
                    <a:solidFill>
                      <a:srgbClr val="5C6A75"/>
                    </a:solidFill>
                    <a:effectLst/>
                    <a:uFillTx/>
                    <a:latin typeface="Arial"/>
                    <a:ea typeface="Arial"/>
                  </a:rPr>
                  <a:t> · slope stability</a:t>
                </a:r>
                <a:endParaRPr lang="en-US" sz="980" b="1" u="none" strike="noStrike" dirty="0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14400">
                  <a:lnSpc>
                    <a:spcPct val="115000"/>
                  </a:lnSpc>
                </a:pPr>
                <a:endParaRPr lang="en-US" sz="98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7ABB69D4-057C-4477-0D94-4ED3BC3C117E}"/>
                </a:ext>
              </a:extLst>
            </p:cNvPr>
            <p:cNvGrpSpPr/>
            <p:nvPr/>
          </p:nvGrpSpPr>
          <p:grpSpPr>
            <a:xfrm>
              <a:off x="6153480" y="1642941"/>
              <a:ext cx="1942920" cy="1104480"/>
              <a:chOff x="6058080" y="1523880"/>
              <a:chExt cx="1942920" cy="1104480"/>
            </a:xfrm>
          </p:grpSpPr>
          <p:sp>
            <p:nvSpPr>
              <p:cNvPr id="47" name="Rectangle: Rounded Corners 20">
                <a:extLst>
                  <a:ext uri="{FF2B5EF4-FFF2-40B4-BE49-F238E27FC236}">
                    <a16:creationId xmlns:a16="http://schemas.microsoft.com/office/drawing/2014/main" id="{6D18980F-A543-F6EF-DF53-7297EEDF76E0}"/>
                  </a:ext>
                </a:extLst>
              </p:cNvPr>
              <p:cNvSpPr/>
              <p:nvPr/>
            </p:nvSpPr>
            <p:spPr>
              <a:xfrm>
                <a:off x="6058080" y="1523880"/>
                <a:ext cx="1942920" cy="1104480"/>
              </a:xfrm>
              <a:prstGeom prst="roundRect">
                <a:avLst>
                  <a:gd name="adj" fmla="val 10345"/>
                </a:avLst>
              </a:prstGeom>
              <a:solidFill>
                <a:srgbClr val="FFFFFF"/>
              </a:solidFill>
              <a:ln w="9525">
                <a:solidFill>
                  <a:srgbClr val="D6E0E5"/>
                </a:solidFill>
                <a:round/>
              </a:ln>
              <a:effectLst>
                <a:outerShdw blurRad="19080" dist="9360" dir="5400000">
                  <a:srgbClr val="000000">
                    <a:alpha val="6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4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GB" sz="1800" b="0" u="none" strike="noStrike">
                  <a:solidFill>
                    <a:srgbClr val="071522"/>
                  </a:solidFill>
                  <a:effectLst/>
                  <a:uFillTx/>
                  <a:latin typeface="Aptos"/>
                </a:endParaRPr>
              </a:p>
            </p:txBody>
          </p:sp>
          <p:sp>
            <p:nvSpPr>
              <p:cNvPr id="48" name="Rectangle: Rounded Corners 26">
                <a:extLst>
                  <a:ext uri="{FF2B5EF4-FFF2-40B4-BE49-F238E27FC236}">
                    <a16:creationId xmlns:a16="http://schemas.microsoft.com/office/drawing/2014/main" id="{9C5DCE12-ECC9-510D-A8CB-A3B4D1823CDF}"/>
                  </a:ext>
                </a:extLst>
              </p:cNvPr>
              <p:cNvSpPr/>
              <p:nvPr/>
            </p:nvSpPr>
            <p:spPr>
              <a:xfrm>
                <a:off x="6058080" y="1523880"/>
                <a:ext cx="1942920" cy="85320"/>
              </a:xfrm>
              <a:prstGeom prst="roundRect">
                <a:avLst>
                  <a:gd name="adj" fmla="val 50000"/>
                </a:avLst>
              </a:prstGeom>
              <a:solidFill>
                <a:srgbClr val="1D6FD8"/>
              </a:solidFill>
              <a:ln w="0">
                <a:solidFill>
                  <a:srgbClr val="1D6FD8"/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5840" rIns="90000" bIns="15840" anchor="t">
                <a:noAutofit/>
              </a:bodyPr>
              <a:lstStyle/>
              <a:p>
                <a:endParaRPr lang="en-GB" sz="1800" b="0" u="none" strike="noStrike">
                  <a:solidFill>
                    <a:schemeClr val="dk1"/>
                  </a:solidFill>
                  <a:effectLst/>
                  <a:uFillTx/>
                  <a:latin typeface="Aptos"/>
                </a:endParaRPr>
              </a:p>
            </p:txBody>
          </p:sp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A5BECE74-E849-5DBC-B7C8-5D6367414CD4}"/>
                  </a:ext>
                </a:extLst>
              </p:cNvPr>
              <p:cNvSpPr/>
              <p:nvPr/>
            </p:nvSpPr>
            <p:spPr>
              <a:xfrm>
                <a:off x="6191280" y="1676160"/>
                <a:ext cx="1676160" cy="1900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0" tIns="0" rIns="0" bIns="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</a:pPr>
                <a:r>
                  <a:rPr lang="en-US" sz="1130" b="1" u="none" strike="noStrike" dirty="0">
                    <a:solidFill>
                      <a:srgbClr val="10243A"/>
                    </a:solidFill>
                    <a:effectLst/>
                    <a:uFillTx/>
                    <a:latin typeface="Arial"/>
                    <a:ea typeface="Arial"/>
                  </a:rPr>
                  <a:t>POLIMI/IMPERIAL/IIT</a:t>
                </a:r>
                <a:endParaRPr lang="en-US" sz="113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647A41F2-5985-32F7-A456-38C3EB4DD926}"/>
                  </a:ext>
                </a:extLst>
              </p:cNvPr>
              <p:cNvSpPr/>
              <p:nvPr/>
            </p:nvSpPr>
            <p:spPr>
              <a:xfrm>
                <a:off x="6191279" y="1904760"/>
                <a:ext cx="1754541" cy="6282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0" tIns="0" rIns="0" bIns="0" anchor="t">
                <a:noAutofit/>
              </a:bodyPr>
              <a:lstStyle/>
              <a:p>
                <a:pPr defTabSz="914400">
                  <a:lnSpc>
                    <a:spcPct val="115000"/>
                  </a:lnSpc>
                </a:pPr>
                <a:r>
                  <a:rPr lang="en-US" sz="980" b="0" u="none" strike="noStrike" dirty="0" err="1">
                    <a:solidFill>
                      <a:srgbClr val="5C6A75"/>
                    </a:solidFill>
                    <a:effectLst/>
                    <a:uFillTx/>
                    <a:latin typeface="Arial"/>
                    <a:ea typeface="Arial"/>
                  </a:rPr>
                  <a:t>Mentasti</a:t>
                </a:r>
                <a:r>
                  <a:rPr lang="en-US" sz="980" b="0" u="none" strike="noStrike" dirty="0">
                    <a:solidFill>
                      <a:srgbClr val="5C6A75"/>
                    </a:solidFill>
                    <a:effectLst/>
                    <a:uFillTx/>
                    <a:latin typeface="Arial"/>
                    <a:ea typeface="Arial"/>
                  </a:rPr>
                  <a:t> · autonomy &amp; sensing</a:t>
                </a:r>
              </a:p>
              <a:p>
                <a:pPr defTabSz="914400">
                  <a:lnSpc>
                    <a:spcPct val="115000"/>
                  </a:lnSpc>
                </a:pPr>
                <a:r>
                  <a:rPr lang="en-US" sz="980" b="0" u="none" strike="noStrike" dirty="0">
                    <a:solidFill>
                      <a:srgbClr val="5C6A75"/>
                    </a:solidFill>
                    <a:effectLst/>
                    <a:uFillTx/>
                    <a:latin typeface="Arial"/>
                    <a:ea typeface="Arial"/>
                  </a:rPr>
                  <a:t>Bhattacharya · vision &amp; ML</a:t>
                </a:r>
                <a:endParaRPr lang="en-US" sz="980" dirty="0">
                  <a:solidFill>
                    <a:srgbClr val="5C6A75"/>
                  </a:solidFill>
                  <a:latin typeface="Arial"/>
                </a:endParaRPr>
              </a:p>
              <a:p>
                <a:pPr>
                  <a:lnSpc>
                    <a:spcPct val="115000"/>
                  </a:lnSpc>
                </a:pPr>
                <a:r>
                  <a:rPr lang="en-US" sz="980" b="1" u="none" strike="noStrike" dirty="0" err="1">
                    <a:solidFill>
                      <a:srgbClr val="5C6A75"/>
                    </a:solidFill>
                    <a:effectLst/>
                    <a:uFillTx/>
                    <a:latin typeface="Arial"/>
                    <a:ea typeface="Arial"/>
                  </a:rPr>
                  <a:t>Mazzolai</a:t>
                </a:r>
                <a:r>
                  <a:rPr lang="en-US" sz="980" b="1" u="none" strike="noStrike" dirty="0">
                    <a:solidFill>
                      <a:srgbClr val="5C6A75"/>
                    </a:solidFill>
                    <a:effectLst/>
                    <a:uFillTx/>
                    <a:latin typeface="Arial"/>
                    <a:ea typeface="Arial"/>
                  </a:rPr>
                  <a:t> · root-inspired burrowing robot</a:t>
                </a:r>
                <a:endParaRPr lang="en-US" sz="980" b="1" u="none" strike="noStrike" dirty="0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14400">
                  <a:lnSpc>
                    <a:spcPct val="115000"/>
                  </a:lnSpc>
                </a:pPr>
                <a:endParaRPr lang="en-US" sz="98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14400">
                  <a:lnSpc>
                    <a:spcPct val="115000"/>
                  </a:lnSpc>
                </a:pPr>
                <a:endParaRPr lang="en-US" sz="98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B71E3948-D6FC-6617-50ED-4FAA535F6774}"/>
                </a:ext>
              </a:extLst>
            </p:cNvPr>
            <p:cNvGrpSpPr/>
            <p:nvPr/>
          </p:nvGrpSpPr>
          <p:grpSpPr>
            <a:xfrm>
              <a:off x="6153480" y="3244022"/>
              <a:ext cx="1942920" cy="1104480"/>
              <a:chOff x="6058080" y="3200400"/>
              <a:chExt cx="1942920" cy="1104480"/>
            </a:xfrm>
          </p:grpSpPr>
          <p:sp>
            <p:nvSpPr>
              <p:cNvPr id="43" name="Rectangle: Rounded Corners 16">
                <a:extLst>
                  <a:ext uri="{FF2B5EF4-FFF2-40B4-BE49-F238E27FC236}">
                    <a16:creationId xmlns:a16="http://schemas.microsoft.com/office/drawing/2014/main" id="{6C6DD4F7-7F3A-E2F0-5A21-C2419248EAC1}"/>
                  </a:ext>
                </a:extLst>
              </p:cNvPr>
              <p:cNvSpPr/>
              <p:nvPr/>
            </p:nvSpPr>
            <p:spPr>
              <a:xfrm>
                <a:off x="6058080" y="3200400"/>
                <a:ext cx="1942920" cy="1104480"/>
              </a:xfrm>
              <a:prstGeom prst="roundRect">
                <a:avLst>
                  <a:gd name="adj" fmla="val 10345"/>
                </a:avLst>
              </a:prstGeom>
              <a:solidFill>
                <a:srgbClr val="FFFFFF"/>
              </a:solidFill>
              <a:ln w="9525">
                <a:solidFill>
                  <a:srgbClr val="D6E0E5"/>
                </a:solidFill>
                <a:round/>
              </a:ln>
              <a:effectLst>
                <a:outerShdw blurRad="19080" dist="9360" dir="5400000">
                  <a:srgbClr val="000000">
                    <a:alpha val="6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4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GB" sz="1800" b="0" u="none" strike="noStrike">
                  <a:solidFill>
                    <a:srgbClr val="071522"/>
                  </a:solidFill>
                  <a:effectLst/>
                  <a:uFillTx/>
                  <a:latin typeface="Aptos"/>
                </a:endParaRPr>
              </a:p>
            </p:txBody>
          </p:sp>
          <p:sp>
            <p:nvSpPr>
              <p:cNvPr id="44" name="Rectangle: Rounded Corners 27">
                <a:extLst>
                  <a:ext uri="{FF2B5EF4-FFF2-40B4-BE49-F238E27FC236}">
                    <a16:creationId xmlns:a16="http://schemas.microsoft.com/office/drawing/2014/main" id="{0EF571CE-EA85-E36B-0376-58FB9840863D}"/>
                  </a:ext>
                </a:extLst>
              </p:cNvPr>
              <p:cNvSpPr/>
              <p:nvPr/>
            </p:nvSpPr>
            <p:spPr>
              <a:xfrm>
                <a:off x="6058080" y="3200400"/>
                <a:ext cx="1942920" cy="85320"/>
              </a:xfrm>
              <a:prstGeom prst="roundRect">
                <a:avLst>
                  <a:gd name="adj" fmla="val 50000"/>
                </a:avLst>
              </a:prstGeom>
              <a:solidFill>
                <a:srgbClr val="159A9C"/>
              </a:solidFill>
              <a:ln w="0">
                <a:solidFill>
                  <a:srgbClr val="159A9C"/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5840" rIns="90000" bIns="15840" anchor="t">
                <a:noAutofit/>
              </a:bodyPr>
              <a:lstStyle/>
              <a:p>
                <a:endParaRPr lang="en-GB" sz="1800" b="0" u="none" strike="noStrike">
                  <a:solidFill>
                    <a:schemeClr val="dk1"/>
                  </a:solidFill>
                  <a:effectLst/>
                  <a:uFillTx/>
                  <a:latin typeface="Aptos"/>
                </a:endParaRPr>
              </a:p>
            </p:txBody>
          </p:sp>
          <p:sp>
            <p:nvSpPr>
              <p:cNvPr id="45" name="Rectangle 50">
                <a:extLst>
                  <a:ext uri="{FF2B5EF4-FFF2-40B4-BE49-F238E27FC236}">
                    <a16:creationId xmlns:a16="http://schemas.microsoft.com/office/drawing/2014/main" id="{E496F270-D4C3-3014-24FB-CAEDCD277D37}"/>
                  </a:ext>
                </a:extLst>
              </p:cNvPr>
              <p:cNvSpPr/>
              <p:nvPr/>
            </p:nvSpPr>
            <p:spPr>
              <a:xfrm>
                <a:off x="6191280" y="3352680"/>
                <a:ext cx="1676160" cy="1900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0" tIns="0" rIns="0" bIns="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</a:pPr>
                <a:r>
                  <a:rPr lang="en-US" sz="1130" b="1" u="none" strike="noStrike">
                    <a:solidFill>
                      <a:srgbClr val="10243A"/>
                    </a:solidFill>
                    <a:effectLst/>
                    <a:uFillTx/>
                    <a:latin typeface="Arial"/>
                    <a:ea typeface="Arial"/>
                  </a:rPr>
                  <a:t>POLIMI</a:t>
                </a:r>
                <a:endParaRPr lang="en-US" sz="113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6" name="Rectangle 51">
                <a:extLst>
                  <a:ext uri="{FF2B5EF4-FFF2-40B4-BE49-F238E27FC236}">
                    <a16:creationId xmlns:a16="http://schemas.microsoft.com/office/drawing/2014/main" id="{EF9EE79C-40F6-6397-2FC1-1C4145EAC566}"/>
                  </a:ext>
                </a:extLst>
              </p:cNvPr>
              <p:cNvSpPr/>
              <p:nvPr/>
            </p:nvSpPr>
            <p:spPr>
              <a:xfrm>
                <a:off x="6191280" y="3581280"/>
                <a:ext cx="1695240" cy="6282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0" tIns="0" rIns="0" bIns="0" anchor="t">
                <a:noAutofit/>
              </a:bodyPr>
              <a:lstStyle/>
              <a:p>
                <a:pPr defTabSz="914400">
                  <a:lnSpc>
                    <a:spcPct val="115000"/>
                  </a:lnSpc>
                </a:pPr>
                <a:r>
                  <a:rPr lang="en-US" sz="980" b="0" u="none" strike="noStrike">
                    <a:solidFill>
                      <a:srgbClr val="5C6A75"/>
                    </a:solidFill>
                    <a:effectLst/>
                    <a:uFillTx/>
                    <a:latin typeface="Arial"/>
                    <a:ea typeface="Arial"/>
                  </a:rPr>
                  <a:t>Botteghi · digital twin &amp; control</a:t>
                </a:r>
                <a:endParaRPr lang="en-US" sz="98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A97A8784-4F48-13DC-23EF-9C3D2080E3DF}"/>
                </a:ext>
              </a:extLst>
            </p:cNvPr>
            <p:cNvGrpSpPr/>
            <p:nvPr/>
          </p:nvGrpSpPr>
          <p:grpSpPr>
            <a:xfrm>
              <a:off x="914220" y="3244022"/>
              <a:ext cx="1942920" cy="1104480"/>
              <a:chOff x="800280" y="3200400"/>
              <a:chExt cx="1942920" cy="1104480"/>
            </a:xfrm>
          </p:grpSpPr>
          <p:sp>
            <p:nvSpPr>
              <p:cNvPr id="39" name="Rectangle: Rounded Corners 15">
                <a:extLst>
                  <a:ext uri="{FF2B5EF4-FFF2-40B4-BE49-F238E27FC236}">
                    <a16:creationId xmlns:a16="http://schemas.microsoft.com/office/drawing/2014/main" id="{B2081073-215F-C7A3-03A7-4B2382930194}"/>
                  </a:ext>
                </a:extLst>
              </p:cNvPr>
              <p:cNvSpPr/>
              <p:nvPr/>
            </p:nvSpPr>
            <p:spPr>
              <a:xfrm>
                <a:off x="800280" y="3200400"/>
                <a:ext cx="1942920" cy="1104480"/>
              </a:xfrm>
              <a:prstGeom prst="roundRect">
                <a:avLst>
                  <a:gd name="adj" fmla="val 10345"/>
                </a:avLst>
              </a:prstGeom>
              <a:solidFill>
                <a:srgbClr val="FFFFFF"/>
              </a:solidFill>
              <a:ln w="9525">
                <a:solidFill>
                  <a:srgbClr val="D6E0E5"/>
                </a:solidFill>
                <a:round/>
              </a:ln>
              <a:effectLst>
                <a:outerShdw blurRad="19080" dist="9360" dir="5400000">
                  <a:srgbClr val="000000">
                    <a:alpha val="6000"/>
                  </a:srgb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4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GB" sz="1800" b="0" u="none" strike="noStrike">
                  <a:solidFill>
                    <a:srgbClr val="071522"/>
                  </a:solidFill>
                  <a:effectLst/>
                  <a:uFillTx/>
                  <a:latin typeface="Aptos"/>
                </a:endParaRPr>
              </a:p>
            </p:txBody>
          </p:sp>
          <p:sp>
            <p:nvSpPr>
              <p:cNvPr id="40" name="Rectangle: Rounded Corners 28">
                <a:extLst>
                  <a:ext uri="{FF2B5EF4-FFF2-40B4-BE49-F238E27FC236}">
                    <a16:creationId xmlns:a16="http://schemas.microsoft.com/office/drawing/2014/main" id="{0D72D8DC-8C40-F6D3-18F1-8A6004FCCEBD}"/>
                  </a:ext>
                </a:extLst>
              </p:cNvPr>
              <p:cNvSpPr/>
              <p:nvPr/>
            </p:nvSpPr>
            <p:spPr>
              <a:xfrm>
                <a:off x="800280" y="3200400"/>
                <a:ext cx="1942920" cy="85320"/>
              </a:xfrm>
              <a:prstGeom prst="roundRect">
                <a:avLst>
                  <a:gd name="adj" fmla="val 50000"/>
                </a:avLst>
              </a:prstGeom>
              <a:solidFill>
                <a:srgbClr val="4C8A43"/>
              </a:solidFill>
              <a:ln w="0">
                <a:solidFill>
                  <a:srgbClr val="4C8A43"/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5840" rIns="90000" bIns="15840" anchor="t">
                <a:noAutofit/>
              </a:bodyPr>
              <a:lstStyle/>
              <a:p>
                <a:endParaRPr lang="en-GB" sz="1800" b="0" u="none" strike="noStrike">
                  <a:solidFill>
                    <a:schemeClr val="dk1"/>
                  </a:solidFill>
                  <a:effectLst/>
                  <a:uFillTx/>
                  <a:latin typeface="Aptos"/>
                </a:endParaRPr>
              </a:p>
            </p:txBody>
          </p:sp>
          <p:sp>
            <p:nvSpPr>
              <p:cNvPr id="41" name="Rectangle 52">
                <a:extLst>
                  <a:ext uri="{FF2B5EF4-FFF2-40B4-BE49-F238E27FC236}">
                    <a16:creationId xmlns:a16="http://schemas.microsoft.com/office/drawing/2014/main" id="{8BB78728-B47B-91E6-7636-3FA334079C7E}"/>
                  </a:ext>
                </a:extLst>
              </p:cNvPr>
              <p:cNvSpPr/>
              <p:nvPr/>
            </p:nvSpPr>
            <p:spPr>
              <a:xfrm>
                <a:off x="933480" y="3352680"/>
                <a:ext cx="1676160" cy="1900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0" tIns="0" rIns="0" bIns="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</a:pPr>
                <a:r>
                  <a:rPr lang="en-US" sz="1130" b="1" u="none" strike="noStrike">
                    <a:solidFill>
                      <a:srgbClr val="10243A"/>
                    </a:solidFill>
                    <a:effectLst/>
                    <a:uFillTx/>
                    <a:latin typeface="Arial"/>
                    <a:ea typeface="Arial"/>
                  </a:rPr>
                  <a:t>TUM</a:t>
                </a:r>
                <a:endParaRPr lang="en-US" sz="113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" name="Rectangle 53">
                <a:extLst>
                  <a:ext uri="{FF2B5EF4-FFF2-40B4-BE49-F238E27FC236}">
                    <a16:creationId xmlns:a16="http://schemas.microsoft.com/office/drawing/2014/main" id="{C34DC568-934C-DD0E-DA73-94647D2BA04E}"/>
                  </a:ext>
                </a:extLst>
              </p:cNvPr>
              <p:cNvSpPr/>
              <p:nvPr/>
            </p:nvSpPr>
            <p:spPr>
              <a:xfrm>
                <a:off x="933480" y="3581280"/>
                <a:ext cx="1695240" cy="6282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0" tIns="0" rIns="0" bIns="0" anchor="t">
                <a:noAutofit/>
              </a:bodyPr>
              <a:lstStyle/>
              <a:p>
                <a:pPr defTabSz="914400">
                  <a:lnSpc>
                    <a:spcPct val="115000"/>
                  </a:lnSpc>
                </a:pPr>
                <a:r>
                  <a:rPr lang="en-US" sz="980" b="0" u="none" strike="noStrike" dirty="0">
                    <a:solidFill>
                      <a:srgbClr val="5C6A75"/>
                    </a:solidFill>
                    <a:effectLst/>
                    <a:uFillTx/>
                    <a:latin typeface="Arial"/>
                    <a:ea typeface="Arial"/>
                  </a:rPr>
                  <a:t>Rojas-Botero · restoration</a:t>
                </a:r>
                <a:endParaRPr lang="en-US" sz="980" dirty="0">
                  <a:solidFill>
                    <a:srgbClr val="5C6A75"/>
                  </a:solidFill>
                  <a:latin typeface="Arial"/>
                </a:endParaRPr>
              </a:p>
              <a:p>
                <a:pPr>
                  <a:lnSpc>
                    <a:spcPct val="115000"/>
                  </a:lnSpc>
                </a:pPr>
                <a:r>
                  <a:rPr lang="en-US" sz="980" b="1" u="none" strike="noStrike" dirty="0">
                    <a:solidFill>
                      <a:srgbClr val="5C6A75"/>
                    </a:solidFill>
                    <a:effectLst/>
                    <a:uFillTx/>
                    <a:latin typeface="Arial"/>
                    <a:ea typeface="Arial"/>
                  </a:rPr>
                  <a:t>Seidl · forest resilience</a:t>
                </a:r>
                <a:endParaRPr lang="en-US" sz="980" b="1" u="none" strike="noStrike" dirty="0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14400">
                  <a:lnSpc>
                    <a:spcPct val="115000"/>
                  </a:lnSpc>
                </a:pPr>
                <a:endParaRPr lang="en-US" sz="98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14400">
                  <a:lnSpc>
                    <a:spcPct val="115000"/>
                  </a:lnSpc>
                </a:pPr>
                <a:endParaRPr lang="en-US" sz="98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73B02DD2-E3FC-4E5C-20E3-14BBB25DDC16}"/>
              </a:ext>
            </a:extLst>
          </p:cNvPr>
          <p:cNvGrpSpPr/>
          <p:nvPr/>
        </p:nvGrpSpPr>
        <p:grpSpPr>
          <a:xfrm>
            <a:off x="457200" y="1138351"/>
            <a:ext cx="8694720" cy="3776729"/>
            <a:chOff x="457200" y="1138351"/>
            <a:chExt cx="8694720" cy="3776729"/>
          </a:xfrm>
        </p:grpSpPr>
        <p:grpSp>
          <p:nvGrpSpPr>
            <p:cNvPr id="127" name="Group 126">
              <a:extLst>
                <a:ext uri="{FF2B5EF4-FFF2-40B4-BE49-F238E27FC236}">
                  <a16:creationId xmlns:a16="http://schemas.microsoft.com/office/drawing/2014/main" id="{1D2EA4F8-A929-BF4D-78A7-FBB6398FFCC4}"/>
                </a:ext>
              </a:extLst>
            </p:cNvPr>
            <p:cNvGrpSpPr/>
            <p:nvPr/>
          </p:nvGrpSpPr>
          <p:grpSpPr>
            <a:xfrm>
              <a:off x="457200" y="1212514"/>
              <a:ext cx="8694720" cy="3702566"/>
              <a:chOff x="457200" y="1212514"/>
              <a:chExt cx="8694720" cy="3702566"/>
            </a:xfrm>
          </p:grpSpPr>
          <p:grpSp>
            <p:nvGrpSpPr>
              <p:cNvPr id="55" name="Group 54">
                <a:extLst>
                  <a:ext uri="{FF2B5EF4-FFF2-40B4-BE49-F238E27FC236}">
                    <a16:creationId xmlns:a16="http://schemas.microsoft.com/office/drawing/2014/main" id="{13679944-F36B-CABD-20C4-E363EF57410C}"/>
                  </a:ext>
                </a:extLst>
              </p:cNvPr>
              <p:cNvGrpSpPr/>
              <p:nvPr/>
            </p:nvGrpSpPr>
            <p:grpSpPr>
              <a:xfrm>
                <a:off x="457200" y="1212514"/>
                <a:ext cx="8228520" cy="3702566"/>
                <a:chOff x="457200" y="1212514"/>
                <a:chExt cx="8228520" cy="3702566"/>
              </a:xfrm>
            </p:grpSpPr>
            <p:pic>
              <p:nvPicPr>
                <p:cNvPr id="56" name="Picture 55">
                  <a:extLst>
                    <a:ext uri="{FF2B5EF4-FFF2-40B4-BE49-F238E27FC236}">
                      <a16:creationId xmlns:a16="http://schemas.microsoft.com/office/drawing/2014/main" id="{DC6B323D-395B-999C-A4A2-57BC9F20161C}"/>
                    </a:ext>
                  </a:extLst>
                </p:cNvPr>
                <p:cNvPicPr/>
                <p:nvPr/>
              </p:nvPicPr>
              <p:blipFill>
                <a:blip r:embed="rId3"/>
                <a:stretch/>
              </p:blipFill>
              <p:spPr>
                <a:xfrm>
                  <a:off x="2743200" y="1371600"/>
                  <a:ext cx="3429000" cy="3331800"/>
                </a:xfrm>
                <a:prstGeom prst="rect">
                  <a:avLst/>
                </a:prstGeom>
                <a:noFill/>
                <a:ln w="0">
                  <a:noFill/>
                </a:ln>
              </p:spPr>
            </p:pic>
            <p:grpSp>
              <p:nvGrpSpPr>
                <p:cNvPr id="58" name="Group 57">
                  <a:extLst>
                    <a:ext uri="{FF2B5EF4-FFF2-40B4-BE49-F238E27FC236}">
                      <a16:creationId xmlns:a16="http://schemas.microsoft.com/office/drawing/2014/main" id="{EE3B0844-EADE-3543-5E65-E503338E3943}"/>
                    </a:ext>
                  </a:extLst>
                </p:cNvPr>
                <p:cNvGrpSpPr/>
                <p:nvPr/>
              </p:nvGrpSpPr>
              <p:grpSpPr>
                <a:xfrm>
                  <a:off x="6742620" y="1692000"/>
                  <a:ext cx="1943100" cy="3223080"/>
                  <a:chOff x="6742620" y="1692000"/>
                  <a:chExt cx="1943100" cy="3223080"/>
                </a:xfrm>
              </p:grpSpPr>
              <p:grpSp>
                <p:nvGrpSpPr>
                  <p:cNvPr id="109" name="Group 108">
                    <a:extLst>
                      <a:ext uri="{FF2B5EF4-FFF2-40B4-BE49-F238E27FC236}">
                        <a16:creationId xmlns:a16="http://schemas.microsoft.com/office/drawing/2014/main" id="{9FE6AE65-DEBC-F056-4CE2-5C20E492FDFD}"/>
                      </a:ext>
                    </a:extLst>
                  </p:cNvPr>
                  <p:cNvGrpSpPr/>
                  <p:nvPr/>
                </p:nvGrpSpPr>
                <p:grpSpPr>
                  <a:xfrm>
                    <a:off x="6742620" y="3111480"/>
                    <a:ext cx="1942920" cy="1009080"/>
                    <a:chOff x="6812460" y="3150000"/>
                    <a:chExt cx="1942920" cy="1009080"/>
                  </a:xfrm>
                </p:grpSpPr>
                <p:sp>
                  <p:nvSpPr>
                    <p:cNvPr id="121" name="Rectangle: Rounded Corners 1">
                      <a:extLst>
                        <a:ext uri="{FF2B5EF4-FFF2-40B4-BE49-F238E27FC236}">
                          <a16:creationId xmlns:a16="http://schemas.microsoft.com/office/drawing/2014/main" id="{A02E4AAE-BF87-14E9-68C9-F2932A2B74A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812460" y="3150000"/>
                      <a:ext cx="1942920" cy="626040"/>
                    </a:xfrm>
                    <a:prstGeom prst="roundRect">
                      <a:avLst>
                        <a:gd name="adj" fmla="val 10345"/>
                      </a:avLst>
                    </a:prstGeom>
                    <a:solidFill>
                      <a:srgbClr val="FFFFFF"/>
                    </a:solidFill>
                    <a:ln w="9525">
                      <a:solidFill>
                        <a:srgbClr val="D6E0E5"/>
                      </a:solidFill>
                      <a:round/>
                    </a:ln>
                    <a:effectLst>
                      <a:outerShdw blurRad="19080" dist="9360" dir="5400000">
                        <a:srgbClr val="000000">
                          <a:alpha val="6000"/>
                        </a:srgbClr>
                      </a:outerShdw>
                    </a:effectLst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4">
                      <a:scrgbClr r="0" g="0" b="0"/>
                    </a:effectRef>
                    <a:fontRef idx="minor"/>
                  </p:style>
                  <p:txBody>
                    <a:bodyPr lIns="90000" tIns="45000" rIns="90000" bIns="45000" anchor="t">
                      <a:noAutofit/>
                    </a:bodyPr>
                    <a:lstStyle/>
                    <a:p>
                      <a:endParaRPr lang="en-GB" sz="1800" b="0" u="none" strike="noStrike">
                        <a:solidFill>
                          <a:srgbClr val="071522"/>
                        </a:solidFill>
                        <a:effectLst/>
                        <a:uFillTx/>
                        <a:latin typeface="Aptos"/>
                      </a:endParaRPr>
                    </a:p>
                  </p:txBody>
                </p:sp>
                <p:sp>
                  <p:nvSpPr>
                    <p:cNvPr id="122" name="Rectangle: Rounded Corners 5">
                      <a:extLst>
                        <a:ext uri="{FF2B5EF4-FFF2-40B4-BE49-F238E27FC236}">
                          <a16:creationId xmlns:a16="http://schemas.microsoft.com/office/drawing/2014/main" id="{2A0EFA15-89D0-80DD-BCD7-7A98865733E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812460" y="3150000"/>
                      <a:ext cx="1942920" cy="85320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rgbClr val="FFC000"/>
                    </a:solidFill>
                    <a:ln w="0">
                      <a:solidFill>
                        <a:srgbClr val="FFC000"/>
                      </a:solidFill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/>
                  </p:style>
                  <p:txBody>
                    <a:bodyPr lIns="90000" tIns="15840" rIns="90000" bIns="15840" anchor="t">
                      <a:noAutofit/>
                    </a:bodyPr>
                    <a:lstStyle/>
                    <a:p>
                      <a:endParaRPr lang="en-GB" sz="18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p:txBody>
                </p:sp>
                <p:sp>
                  <p:nvSpPr>
                    <p:cNvPr id="123" name="Rectangle 40">
                      <a:extLst>
                        <a:ext uri="{FF2B5EF4-FFF2-40B4-BE49-F238E27FC236}">
                          <a16:creationId xmlns:a16="http://schemas.microsoft.com/office/drawing/2014/main" id="{023D72F8-7ACF-AD74-816A-C187023BED3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945660" y="3302280"/>
                      <a:ext cx="1676160" cy="190080"/>
                    </a:xfrm>
                    <a:prstGeom prst="rect">
                      <a:avLst/>
                    </a:prstGeom>
                    <a:noFill/>
                    <a:ln w="0"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/>
                  </p:style>
                  <p:txBody>
                    <a:bodyPr lIns="0" tIns="0" rIns="0" bIns="0" anchor="t">
                      <a:noAutofit/>
                    </a:bodyPr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30" b="1" u="none" strike="noStrike" dirty="0">
                          <a:solidFill>
                            <a:srgbClr val="10243A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Public Authority</a:t>
                      </a:r>
                      <a:endParaRPr lang="en-US" sz="113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124" name="Rectangle 41">
                      <a:extLst>
                        <a:ext uri="{FF2B5EF4-FFF2-40B4-BE49-F238E27FC236}">
                          <a16:creationId xmlns:a16="http://schemas.microsoft.com/office/drawing/2014/main" id="{571711E9-91D3-89E4-236A-70EACA53D60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945660" y="3530880"/>
                      <a:ext cx="1695240" cy="628200"/>
                    </a:xfrm>
                    <a:prstGeom prst="rect">
                      <a:avLst/>
                    </a:prstGeom>
                    <a:noFill/>
                    <a:ln w="0"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/>
                  </p:style>
                  <p:txBody>
                    <a:bodyPr lIns="0" tIns="0" rIns="0" bIns="0" anchor="t">
                      <a:noAutofit/>
                    </a:bodyPr>
                    <a:lstStyle/>
                    <a:p>
                      <a:pPr defTabSz="914400">
                        <a:lnSpc>
                          <a:spcPct val="115000"/>
                        </a:lnSpc>
                      </a:pPr>
                      <a:r>
                        <a:rPr lang="en-US" sz="900" b="0" u="none" strike="noStrike" dirty="0">
                          <a:solidFill>
                            <a:srgbClr val="5C6A75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???</a:t>
                      </a:r>
                      <a:endParaRPr lang="en-US" sz="9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110" name="Group 109">
                    <a:extLst>
                      <a:ext uri="{FF2B5EF4-FFF2-40B4-BE49-F238E27FC236}">
                        <a16:creationId xmlns:a16="http://schemas.microsoft.com/office/drawing/2014/main" id="{742D97F4-F9F5-A097-C751-BAB18E0FB165}"/>
                      </a:ext>
                    </a:extLst>
                  </p:cNvPr>
                  <p:cNvGrpSpPr/>
                  <p:nvPr/>
                </p:nvGrpSpPr>
                <p:grpSpPr>
                  <a:xfrm>
                    <a:off x="6742620" y="1692000"/>
                    <a:ext cx="1942920" cy="1009080"/>
                    <a:chOff x="343080" y="1523880"/>
                    <a:chExt cx="1942920" cy="1009080"/>
                  </a:xfrm>
                </p:grpSpPr>
                <p:sp>
                  <p:nvSpPr>
                    <p:cNvPr id="117" name="Rectangle: Rounded Corners 6">
                      <a:extLst>
                        <a:ext uri="{FF2B5EF4-FFF2-40B4-BE49-F238E27FC236}">
                          <a16:creationId xmlns:a16="http://schemas.microsoft.com/office/drawing/2014/main" id="{98181D91-9A2B-704A-A179-5478FA876E1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43080" y="1523880"/>
                      <a:ext cx="1942920" cy="625320"/>
                    </a:xfrm>
                    <a:prstGeom prst="roundRect">
                      <a:avLst>
                        <a:gd name="adj" fmla="val 10345"/>
                      </a:avLst>
                    </a:prstGeom>
                    <a:solidFill>
                      <a:srgbClr val="FFFFFF"/>
                    </a:solidFill>
                    <a:ln w="9525">
                      <a:solidFill>
                        <a:srgbClr val="D6E0E5"/>
                      </a:solidFill>
                      <a:round/>
                    </a:ln>
                    <a:effectLst>
                      <a:outerShdw blurRad="19080" dist="9360" dir="5400000">
                        <a:srgbClr val="000000">
                          <a:alpha val="6000"/>
                        </a:srgbClr>
                      </a:outerShdw>
                    </a:effectLst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4">
                      <a:scrgbClr r="0" g="0" b="0"/>
                    </a:effectRef>
                    <a:fontRef idx="minor"/>
                  </p:style>
                  <p:txBody>
                    <a:bodyPr lIns="90000" tIns="45000" rIns="90000" bIns="45000" anchor="t">
                      <a:noAutofit/>
                    </a:bodyPr>
                    <a:lstStyle/>
                    <a:p>
                      <a:endParaRPr lang="en-GB" sz="1800" b="0" u="none" strike="noStrike">
                        <a:solidFill>
                          <a:srgbClr val="071522"/>
                        </a:solidFill>
                        <a:effectLst/>
                        <a:uFillTx/>
                        <a:latin typeface="Aptos"/>
                      </a:endParaRPr>
                    </a:p>
                  </p:txBody>
                </p:sp>
                <p:sp>
                  <p:nvSpPr>
                    <p:cNvPr id="118" name="Rectangle: Rounded Corners 8">
                      <a:extLst>
                        <a:ext uri="{FF2B5EF4-FFF2-40B4-BE49-F238E27FC236}">
                          <a16:creationId xmlns:a16="http://schemas.microsoft.com/office/drawing/2014/main" id="{D2E9F072-7419-6D7A-DC82-BB5FDB2B8F5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43080" y="1523880"/>
                      <a:ext cx="1942920" cy="85320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chemeClr val="accent5">
                        <a:lumMod val="60000"/>
                        <a:lumOff val="40000"/>
                      </a:schemeClr>
                    </a:solidFill>
                    <a:ln w="0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/>
                  </p:style>
                  <p:txBody>
                    <a:bodyPr lIns="90000" tIns="15840" rIns="90000" bIns="15840" anchor="t">
                      <a:noAutofit/>
                    </a:bodyPr>
                    <a:lstStyle/>
                    <a:p>
                      <a:endParaRPr lang="en-GB" sz="1800" b="0" u="none" strike="noStrike">
                        <a:solidFill>
                          <a:schemeClr val="accent5"/>
                        </a:solidFill>
                        <a:effectLst/>
                        <a:uFillTx/>
                        <a:latin typeface="Aptos"/>
                      </a:endParaRPr>
                    </a:p>
                  </p:txBody>
                </p:sp>
                <p:sp>
                  <p:nvSpPr>
                    <p:cNvPr id="119" name="Rectangle 70">
                      <a:extLst>
                        <a:ext uri="{FF2B5EF4-FFF2-40B4-BE49-F238E27FC236}">
                          <a16:creationId xmlns:a16="http://schemas.microsoft.com/office/drawing/2014/main" id="{1CA77773-F812-C330-36EC-F46FD9FBA69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76280" y="1676160"/>
                      <a:ext cx="1676160" cy="190080"/>
                    </a:xfrm>
                    <a:prstGeom prst="rect">
                      <a:avLst/>
                    </a:prstGeom>
                    <a:noFill/>
                    <a:ln w="0"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/>
                  </p:style>
                  <p:txBody>
                    <a:bodyPr lIns="0" tIns="0" rIns="0" bIns="0" anchor="t">
                      <a:noAutofit/>
                    </a:bodyPr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30" b="1" u="none" strike="noStrike" dirty="0">
                          <a:solidFill>
                            <a:srgbClr val="10243A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Technology Company</a:t>
                      </a:r>
                      <a:endParaRPr lang="en-US" sz="113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120" name="Rectangle 71">
                      <a:extLst>
                        <a:ext uri="{FF2B5EF4-FFF2-40B4-BE49-F238E27FC236}">
                          <a16:creationId xmlns:a16="http://schemas.microsoft.com/office/drawing/2014/main" id="{7AD0FD65-66A5-09F5-9107-BD3DE25C6AA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76280" y="1904760"/>
                      <a:ext cx="1695240" cy="628200"/>
                    </a:xfrm>
                    <a:prstGeom prst="rect">
                      <a:avLst/>
                    </a:prstGeom>
                    <a:noFill/>
                    <a:ln w="0"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/>
                  </p:style>
                  <p:txBody>
                    <a:bodyPr lIns="0" tIns="0" rIns="0" bIns="0" anchor="t">
                      <a:noAutofit/>
                    </a:bodyPr>
                    <a:lstStyle/>
                    <a:p>
                      <a:pPr defTabSz="914400">
                        <a:lnSpc>
                          <a:spcPct val="115000"/>
                        </a:lnSpc>
                      </a:pPr>
                      <a:r>
                        <a:rPr lang="en-US" sz="900" b="0" u="none" strike="noStrike" dirty="0">
                          <a:solidFill>
                            <a:srgbClr val="5C6A75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PAL Robotics</a:t>
                      </a:r>
                      <a:endParaRPr lang="en-US" sz="9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111" name="Group 110">
                    <a:extLst>
                      <a:ext uri="{FF2B5EF4-FFF2-40B4-BE49-F238E27FC236}">
                        <a16:creationId xmlns:a16="http://schemas.microsoft.com/office/drawing/2014/main" id="{4FC56260-9A0F-50A1-0531-F14FF1EA8B2A}"/>
                      </a:ext>
                    </a:extLst>
                  </p:cNvPr>
                  <p:cNvGrpSpPr/>
                  <p:nvPr/>
                </p:nvGrpSpPr>
                <p:grpSpPr>
                  <a:xfrm>
                    <a:off x="6742800" y="3906000"/>
                    <a:ext cx="1942920" cy="1009080"/>
                    <a:chOff x="343080" y="3200400"/>
                    <a:chExt cx="1942920" cy="1009080"/>
                  </a:xfrm>
                </p:grpSpPr>
                <p:grpSp>
                  <p:nvGrpSpPr>
                    <p:cNvPr id="112" name="Group 111">
                      <a:extLst>
                        <a:ext uri="{FF2B5EF4-FFF2-40B4-BE49-F238E27FC236}">
                          <a16:creationId xmlns:a16="http://schemas.microsoft.com/office/drawing/2014/main" id="{0DD76A8D-7ABC-EAC9-7CAD-9FEE9E0E3DB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43080" y="3200400"/>
                      <a:ext cx="1942920" cy="627840"/>
                      <a:chOff x="343080" y="3200400"/>
                      <a:chExt cx="1942920" cy="627840"/>
                    </a:xfrm>
                  </p:grpSpPr>
                  <p:sp>
                    <p:nvSpPr>
                      <p:cNvPr id="114" name="Rectangle: Rounded Corners 11">
                        <a:extLst>
                          <a:ext uri="{FF2B5EF4-FFF2-40B4-BE49-F238E27FC236}">
                            <a16:creationId xmlns:a16="http://schemas.microsoft.com/office/drawing/2014/main" id="{07AB085F-F897-CC30-F4B0-B0450E0372B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43080" y="3200400"/>
                        <a:ext cx="1942920" cy="627840"/>
                      </a:xfrm>
                      <a:prstGeom prst="roundRect">
                        <a:avLst>
                          <a:gd name="adj" fmla="val 10345"/>
                        </a:avLst>
                      </a:prstGeom>
                      <a:solidFill>
                        <a:srgbClr val="FFFFFF"/>
                      </a:solidFill>
                      <a:ln w="9525">
                        <a:solidFill>
                          <a:srgbClr val="D6E0E5"/>
                        </a:solidFill>
                        <a:round/>
                      </a:ln>
                      <a:effectLst>
                        <a:outerShdw blurRad="19080" dist="9360" dir="5400000">
                          <a:srgbClr val="000000">
                            <a:alpha val="6000"/>
                          </a:srgbClr>
                        </a:outerShdw>
                      </a:effectLst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4">
                        <a:scrgbClr r="0" g="0" b="0"/>
                      </a:effectRef>
                      <a:fontRef idx="minor"/>
                    </p:style>
                    <p:txBody>
                      <a:bodyPr lIns="90000" tIns="45000" rIns="90000" bIns="45000" anchor="t">
                        <a:noAutofit/>
                      </a:bodyPr>
                      <a:lstStyle/>
                      <a:p>
                        <a:endParaRPr lang="en-GB" sz="1800" b="0" u="none" strike="noStrike">
                          <a:solidFill>
                            <a:srgbClr val="071522"/>
                          </a:solidFill>
                          <a:effectLst/>
                          <a:uFillTx/>
                          <a:latin typeface="Aptos"/>
                        </a:endParaRPr>
                      </a:p>
                    </p:txBody>
                  </p:sp>
                  <p:sp>
                    <p:nvSpPr>
                      <p:cNvPr id="115" name="Rectangle: Rounded Corners 12">
                        <a:extLst>
                          <a:ext uri="{FF2B5EF4-FFF2-40B4-BE49-F238E27FC236}">
                            <a16:creationId xmlns:a16="http://schemas.microsoft.com/office/drawing/2014/main" id="{89E61157-E135-31DF-B285-C592156FD28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43080" y="3200400"/>
                        <a:ext cx="1942920" cy="85320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solidFill>
                        <a:srgbClr val="4C8A43"/>
                      </a:solidFill>
                      <a:ln w="0">
                        <a:solidFill>
                          <a:srgbClr val="4C8A43"/>
                        </a:solidFill>
                      </a:ln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minor"/>
                    </p:style>
                    <p:txBody>
                      <a:bodyPr lIns="90000" tIns="15840" rIns="90000" bIns="15840" anchor="t">
                        <a:noAutofit/>
                      </a:bodyPr>
                      <a:lstStyle/>
                      <a:p>
                        <a:endParaRPr lang="en-GB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endParaRPr>
                      </a:p>
                    </p:txBody>
                  </p:sp>
                  <p:sp>
                    <p:nvSpPr>
                      <p:cNvPr id="116" name="Rectangle 72">
                        <a:extLst>
                          <a:ext uri="{FF2B5EF4-FFF2-40B4-BE49-F238E27FC236}">
                            <a16:creationId xmlns:a16="http://schemas.microsoft.com/office/drawing/2014/main" id="{189D3A84-A300-15E6-DB58-B4D53299EB1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280" y="3352680"/>
                        <a:ext cx="1676160" cy="190080"/>
                      </a:xfrm>
                      <a:prstGeom prst="rect">
                        <a:avLst/>
                      </a:prstGeom>
                      <a:noFill/>
                      <a:ln w="0">
                        <a:noFill/>
                      </a:ln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minor"/>
                    </p:style>
                    <p:txBody>
                      <a:bodyPr lIns="0" tIns="0" rIns="0" bIns="0" anchor="t">
                        <a:noAutofit/>
                      </a:bodyPr>
                      <a:lstStyle/>
                      <a:p>
                        <a:pPr defTabSz="914400">
                          <a:lnSpc>
                            <a:spcPct val="100000"/>
                          </a:lnSpc>
                        </a:pPr>
                        <a:r>
                          <a:rPr lang="en-US" sz="1130" b="1" u="none" strike="noStrike" dirty="0">
                            <a:solidFill>
                              <a:srgbClr val="10243A"/>
                            </a:solidFill>
                            <a:effectLst/>
                            <a:uFillTx/>
                            <a:latin typeface="Arial"/>
                            <a:ea typeface="Arial"/>
                          </a:rPr>
                          <a:t>Environmental NGO</a:t>
                        </a:r>
                        <a:endParaRPr lang="en-US" sz="113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</p:grpSp>
                <p:sp>
                  <p:nvSpPr>
                    <p:cNvPr id="113" name="Rectangle 73">
                      <a:extLst>
                        <a:ext uri="{FF2B5EF4-FFF2-40B4-BE49-F238E27FC236}">
                          <a16:creationId xmlns:a16="http://schemas.microsoft.com/office/drawing/2014/main" id="{1C991D24-6A83-60C0-9BCA-14091307045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76280" y="3581280"/>
                      <a:ext cx="1695240" cy="628200"/>
                    </a:xfrm>
                    <a:prstGeom prst="rect">
                      <a:avLst/>
                    </a:prstGeom>
                    <a:noFill/>
                    <a:ln w="0"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/>
                  </p:style>
                  <p:txBody>
                    <a:bodyPr lIns="0" tIns="0" rIns="0" bIns="0" anchor="t">
                      <a:noAutofit/>
                    </a:bodyPr>
                    <a:lstStyle/>
                    <a:p>
                      <a:pPr defTabSz="914400">
                        <a:lnSpc>
                          <a:spcPct val="115000"/>
                        </a:lnSpc>
                      </a:pPr>
                      <a:r>
                        <a:rPr lang="en-US" sz="900" b="0" u="none" strike="noStrike" dirty="0">
                          <a:solidFill>
                            <a:srgbClr val="5C6A75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???</a:t>
                      </a:r>
                      <a:endParaRPr lang="en-US" sz="9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</p:grpSp>
            <p:sp>
              <p:nvSpPr>
                <p:cNvPr id="59" name="Rectangle 17">
                  <a:extLst>
                    <a:ext uri="{FF2B5EF4-FFF2-40B4-BE49-F238E27FC236}">
                      <a16:creationId xmlns:a16="http://schemas.microsoft.com/office/drawing/2014/main" id="{97D4F713-AB74-9B2B-7F33-35E4218DD061}"/>
                    </a:ext>
                  </a:extLst>
                </p:cNvPr>
                <p:cNvSpPr/>
                <p:nvPr/>
              </p:nvSpPr>
              <p:spPr>
                <a:xfrm>
                  <a:off x="3122292" y="1212514"/>
                  <a:ext cx="2876040" cy="20916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lIns="0" tIns="0" rIns="0" bIns="0" anchor="t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</a:pPr>
                  <a:r>
                    <a:rPr lang="en-US" sz="1050" b="1" u="none" strike="noStrike" dirty="0">
                      <a:solidFill>
                        <a:srgbClr val="5C6A75"/>
                      </a:solidFill>
                      <a:effectLst/>
                      <a:uFillTx/>
                      <a:latin typeface="Arial"/>
                      <a:ea typeface="Arial"/>
                    </a:rPr>
                    <a:t>FIELD-READY HORIZON CONSORTIUM</a:t>
                  </a:r>
                  <a:endParaRPr lang="en-US" sz="1050" b="0" u="none" strike="noStrike" dirty="0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grpSp>
              <p:nvGrpSpPr>
                <p:cNvPr id="60" name="Group 59">
                  <a:extLst>
                    <a:ext uri="{FF2B5EF4-FFF2-40B4-BE49-F238E27FC236}">
                      <a16:creationId xmlns:a16="http://schemas.microsoft.com/office/drawing/2014/main" id="{0D3AB160-0807-DC68-D964-D50ED1D121C0}"/>
                    </a:ext>
                  </a:extLst>
                </p:cNvPr>
                <p:cNvGrpSpPr/>
                <p:nvPr/>
              </p:nvGrpSpPr>
              <p:grpSpPr>
                <a:xfrm>
                  <a:off x="457200" y="1692000"/>
                  <a:ext cx="1943820" cy="3223080"/>
                  <a:chOff x="6742620" y="1692000"/>
                  <a:chExt cx="1943820" cy="3223080"/>
                </a:xfrm>
              </p:grpSpPr>
              <p:sp>
                <p:nvSpPr>
                  <p:cNvPr id="61" name="Rectangle: Rounded Corners 3">
                    <a:extLst>
                      <a:ext uri="{FF2B5EF4-FFF2-40B4-BE49-F238E27FC236}">
                        <a16:creationId xmlns:a16="http://schemas.microsoft.com/office/drawing/2014/main" id="{9CCB7E57-400A-C0F3-A73A-E0F915DC7858}"/>
                      </a:ext>
                    </a:extLst>
                  </p:cNvPr>
                  <p:cNvSpPr/>
                  <p:nvPr/>
                </p:nvSpPr>
                <p:spPr>
                  <a:xfrm>
                    <a:off x="6743520" y="2422440"/>
                    <a:ext cx="1942920" cy="626760"/>
                  </a:xfrm>
                  <a:prstGeom prst="roundRect">
                    <a:avLst>
                      <a:gd name="adj" fmla="val 10345"/>
                    </a:avLst>
                  </a:prstGeom>
                  <a:solidFill>
                    <a:srgbClr val="FFFFFF"/>
                  </a:solidFill>
                  <a:ln w="9525">
                    <a:solidFill>
                      <a:srgbClr val="D6E0E5"/>
                    </a:solidFill>
                    <a:round/>
                  </a:ln>
                  <a:effectLst>
                    <a:outerShdw blurRad="19080" dist="9360" dir="5400000">
                      <a:srgbClr val="000000">
                        <a:alpha val="6000"/>
                      </a:srgb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4">
                    <a:scrgbClr r="0" g="0" b="0"/>
                  </a:effectRef>
                  <a:fontRef idx="minor"/>
                </p:style>
                <p:txBody>
                  <a:bodyPr lIns="90000" tIns="45000" rIns="90000" bIns="45000" anchor="t">
                    <a:noAutofit/>
                  </a:bodyPr>
                  <a:lstStyle/>
                  <a:p>
                    <a:endParaRPr lang="en-GB" sz="1800" b="0" u="none" strike="noStrike">
                      <a:solidFill>
                        <a:srgbClr val="071522"/>
                      </a:solidFill>
                      <a:effectLst/>
                      <a:uFillTx/>
                      <a:latin typeface="Aptos"/>
                    </a:endParaRPr>
                  </a:p>
                </p:txBody>
              </p:sp>
              <p:sp>
                <p:nvSpPr>
                  <p:cNvPr id="62" name="Rectangle: Rounded Corners 4">
                    <a:extLst>
                      <a:ext uri="{FF2B5EF4-FFF2-40B4-BE49-F238E27FC236}">
                        <a16:creationId xmlns:a16="http://schemas.microsoft.com/office/drawing/2014/main" id="{AE7173E5-C2F6-E5EC-68B9-2775851D14D5}"/>
                      </a:ext>
                    </a:extLst>
                  </p:cNvPr>
                  <p:cNvSpPr/>
                  <p:nvPr/>
                </p:nvSpPr>
                <p:spPr>
                  <a:xfrm>
                    <a:off x="6743520" y="2422440"/>
                    <a:ext cx="1942920" cy="8532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accent1"/>
                  </a:solidFill>
                  <a:ln w="0">
                    <a:solidFill>
                      <a:schemeClr val="accent1"/>
                    </a:solidFill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90000" tIns="15840" rIns="90000" bIns="15840" anchor="t">
                    <a:noAutofit/>
                  </a:bodyPr>
                  <a:lstStyle/>
                  <a:p>
                    <a:endParaRPr lang="en-GB" sz="1800" b="0" u="none" strike="noStrike">
                      <a:solidFill>
                        <a:srgbClr val="FF6600"/>
                      </a:solidFill>
                      <a:effectLst/>
                      <a:uFillTx/>
                      <a:latin typeface="Aptos"/>
                    </a:endParaRPr>
                  </a:p>
                </p:txBody>
              </p:sp>
              <p:sp>
                <p:nvSpPr>
                  <p:cNvPr id="87" name="Rectangle 37">
                    <a:extLst>
                      <a:ext uri="{FF2B5EF4-FFF2-40B4-BE49-F238E27FC236}">
                        <a16:creationId xmlns:a16="http://schemas.microsoft.com/office/drawing/2014/main" id="{C1AE8B7B-EC68-B1C4-3A09-843E3BEFE0F1}"/>
                      </a:ext>
                    </a:extLst>
                  </p:cNvPr>
                  <p:cNvSpPr/>
                  <p:nvPr/>
                </p:nvSpPr>
                <p:spPr>
                  <a:xfrm>
                    <a:off x="6876720" y="2574720"/>
                    <a:ext cx="1676160" cy="19008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0" tIns="0" rIns="0" bIns="0" anchor="t">
                    <a:noAutofit/>
                  </a:bodyPr>
                  <a:lstStyle/>
                  <a:p>
                    <a:r>
                      <a:rPr lang="en-US" sz="1130" b="1" u="none" strike="noStrike" dirty="0">
                        <a:solidFill>
                          <a:srgbClr val="10243A"/>
                        </a:solidFill>
                        <a:effectLst/>
                        <a:uFillTx/>
                        <a:latin typeface="Arial"/>
                        <a:ea typeface="Arial"/>
                      </a:rPr>
                      <a:t>POLIMI/IMPERIAL/IIT</a:t>
                    </a:r>
                    <a:endParaRPr lang="en-US" sz="1130" b="0" u="none" strike="noStrike" dirty="0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sp>
                <p:nvSpPr>
                  <p:cNvPr id="88" name="Rectangle 38">
                    <a:extLst>
                      <a:ext uri="{FF2B5EF4-FFF2-40B4-BE49-F238E27FC236}">
                        <a16:creationId xmlns:a16="http://schemas.microsoft.com/office/drawing/2014/main" id="{C2CB44FB-9040-FA7F-4850-F47453FC3389}"/>
                      </a:ext>
                    </a:extLst>
                  </p:cNvPr>
                  <p:cNvSpPr/>
                  <p:nvPr/>
                </p:nvSpPr>
                <p:spPr>
                  <a:xfrm>
                    <a:off x="6857460" y="2803320"/>
                    <a:ext cx="1826100" cy="62820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0" tIns="0" rIns="0" bIns="0" anchor="t">
                    <a:noAutofit/>
                  </a:bodyPr>
                  <a:lstStyle/>
                  <a:p>
                    <a:pPr>
                      <a:lnSpc>
                        <a:spcPct val="115000"/>
                      </a:lnSpc>
                    </a:pPr>
                    <a:r>
                      <a:rPr lang="en-US" sz="900" u="none" strike="noStrike" dirty="0" err="1">
                        <a:solidFill>
                          <a:srgbClr val="5C6A75"/>
                        </a:solidFill>
                        <a:effectLst/>
                        <a:uFillTx/>
                        <a:latin typeface="Arial"/>
                        <a:ea typeface="Arial"/>
                      </a:rPr>
                      <a:t>Mentasti</a:t>
                    </a:r>
                    <a:r>
                      <a:rPr lang="en-US" sz="900" dirty="0">
                        <a:solidFill>
                          <a:srgbClr val="5C6A75"/>
                        </a:solidFill>
                        <a:latin typeface="Arial"/>
                        <a:ea typeface="Arial"/>
                      </a:rPr>
                      <a:t>, </a:t>
                    </a:r>
                    <a:r>
                      <a:rPr lang="en-US" sz="900" u="none" strike="noStrike" dirty="0">
                        <a:solidFill>
                          <a:srgbClr val="5C6A75"/>
                        </a:solidFill>
                        <a:effectLst/>
                        <a:uFillTx/>
                        <a:latin typeface="Arial"/>
                        <a:ea typeface="Arial"/>
                      </a:rPr>
                      <a:t>Bhattacharya, </a:t>
                    </a:r>
                    <a:r>
                      <a:rPr lang="en-US" sz="900" u="none" strike="noStrike" dirty="0" err="1">
                        <a:solidFill>
                          <a:srgbClr val="5C6A75"/>
                        </a:solidFill>
                        <a:effectLst/>
                        <a:uFillTx/>
                        <a:latin typeface="Arial"/>
                        <a:ea typeface="Arial"/>
                      </a:rPr>
                      <a:t>Mazzolai</a:t>
                    </a:r>
                    <a:endParaRPr lang="en-US" sz="900" u="none" strike="noStrike" dirty="0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grpSp>
                <p:nvGrpSpPr>
                  <p:cNvPr id="89" name="Group 88">
                    <a:extLst>
                      <a:ext uri="{FF2B5EF4-FFF2-40B4-BE49-F238E27FC236}">
                        <a16:creationId xmlns:a16="http://schemas.microsoft.com/office/drawing/2014/main" id="{1ABBBC79-932B-C3E0-4B4F-C97F04CFC8C0}"/>
                      </a:ext>
                    </a:extLst>
                  </p:cNvPr>
                  <p:cNvGrpSpPr/>
                  <p:nvPr/>
                </p:nvGrpSpPr>
                <p:grpSpPr>
                  <a:xfrm>
                    <a:off x="6742800" y="3161880"/>
                    <a:ext cx="1942920" cy="1009080"/>
                    <a:chOff x="6812640" y="3200400"/>
                    <a:chExt cx="1942920" cy="1009080"/>
                  </a:xfrm>
                </p:grpSpPr>
                <p:sp>
                  <p:nvSpPr>
                    <p:cNvPr id="101" name="Rectangle: Rounded Corners 1">
                      <a:extLst>
                        <a:ext uri="{FF2B5EF4-FFF2-40B4-BE49-F238E27FC236}">
                          <a16:creationId xmlns:a16="http://schemas.microsoft.com/office/drawing/2014/main" id="{CE43BEC9-A868-3ED8-CFED-5055A143851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812640" y="3200400"/>
                      <a:ext cx="1942920" cy="626040"/>
                    </a:xfrm>
                    <a:prstGeom prst="roundRect">
                      <a:avLst>
                        <a:gd name="adj" fmla="val 10345"/>
                      </a:avLst>
                    </a:prstGeom>
                    <a:solidFill>
                      <a:srgbClr val="FFFFFF"/>
                    </a:solidFill>
                    <a:ln w="9525">
                      <a:solidFill>
                        <a:srgbClr val="D6E0E5"/>
                      </a:solidFill>
                      <a:round/>
                    </a:ln>
                    <a:effectLst>
                      <a:outerShdw blurRad="19080" dist="9360" dir="5400000">
                        <a:srgbClr val="000000">
                          <a:alpha val="6000"/>
                        </a:srgbClr>
                      </a:outerShdw>
                    </a:effectLst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4">
                      <a:scrgbClr r="0" g="0" b="0"/>
                    </a:effectRef>
                    <a:fontRef idx="minor"/>
                  </p:style>
                  <p:txBody>
                    <a:bodyPr lIns="90000" tIns="45000" rIns="90000" bIns="45000" anchor="t">
                      <a:noAutofit/>
                    </a:bodyPr>
                    <a:lstStyle/>
                    <a:p>
                      <a:endParaRPr lang="en-GB" sz="1800" b="0" u="none" strike="noStrike">
                        <a:solidFill>
                          <a:srgbClr val="071522"/>
                        </a:solidFill>
                        <a:effectLst/>
                        <a:uFillTx/>
                        <a:latin typeface="Aptos"/>
                      </a:endParaRPr>
                    </a:p>
                  </p:txBody>
                </p:sp>
                <p:sp>
                  <p:nvSpPr>
                    <p:cNvPr id="102" name="Rectangle: Rounded Corners 5">
                      <a:extLst>
                        <a:ext uri="{FF2B5EF4-FFF2-40B4-BE49-F238E27FC236}">
                          <a16:creationId xmlns:a16="http://schemas.microsoft.com/office/drawing/2014/main" id="{F90E305C-3204-B6D3-C583-5952FD71C1D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812640" y="3200400"/>
                      <a:ext cx="1942920" cy="85320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chemeClr val="accent2"/>
                    </a:solidFill>
                    <a:ln w="0">
                      <a:solidFill>
                        <a:schemeClr val="accent2"/>
                      </a:solidFill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/>
                  </p:style>
                  <p:txBody>
                    <a:bodyPr lIns="90000" tIns="15840" rIns="90000" bIns="15840" anchor="t">
                      <a:noAutofit/>
                    </a:bodyPr>
                    <a:lstStyle/>
                    <a:p>
                      <a:endParaRPr lang="en-GB" sz="18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p:txBody>
                </p:sp>
                <p:sp>
                  <p:nvSpPr>
                    <p:cNvPr id="103" name="Rectangle 40">
                      <a:extLst>
                        <a:ext uri="{FF2B5EF4-FFF2-40B4-BE49-F238E27FC236}">
                          <a16:creationId xmlns:a16="http://schemas.microsoft.com/office/drawing/2014/main" id="{027E321F-2BD0-81FB-22A1-8D37FC1815E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945840" y="3352680"/>
                      <a:ext cx="1676160" cy="190080"/>
                    </a:xfrm>
                    <a:prstGeom prst="rect">
                      <a:avLst/>
                    </a:prstGeom>
                    <a:noFill/>
                    <a:ln w="0"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/>
                  </p:style>
                  <p:txBody>
                    <a:bodyPr lIns="0" tIns="0" rIns="0" bIns="0" anchor="t">
                      <a:noAutofit/>
                    </a:bodyPr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30" b="1" dirty="0">
                          <a:solidFill>
                            <a:srgbClr val="10243A"/>
                          </a:solidFill>
                          <a:latin typeface="Arial"/>
                        </a:rPr>
                        <a:t>POLIMI</a:t>
                      </a:r>
                      <a:endParaRPr lang="en-US" sz="113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104" name="Rectangle 41">
                      <a:extLst>
                        <a:ext uri="{FF2B5EF4-FFF2-40B4-BE49-F238E27FC236}">
                          <a16:creationId xmlns:a16="http://schemas.microsoft.com/office/drawing/2014/main" id="{E85316ED-4031-0F82-C87B-4C1339E46ED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945840" y="3581280"/>
                      <a:ext cx="1695240" cy="628200"/>
                    </a:xfrm>
                    <a:prstGeom prst="rect">
                      <a:avLst/>
                    </a:prstGeom>
                    <a:noFill/>
                    <a:ln w="0"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/>
                  </p:style>
                  <p:txBody>
                    <a:bodyPr lIns="0" tIns="0" rIns="0" bIns="0" anchor="t">
                      <a:noAutofit/>
                    </a:bodyPr>
                    <a:lstStyle/>
                    <a:p>
                      <a:pPr defTabSz="914400">
                        <a:lnSpc>
                          <a:spcPct val="115000"/>
                        </a:lnSpc>
                      </a:pPr>
                      <a:r>
                        <a:rPr lang="en-US" sz="900" b="0" u="none" strike="noStrike" dirty="0">
                          <a:solidFill>
                            <a:srgbClr val="5C6A75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Botteghi</a:t>
                      </a:r>
                      <a:endParaRPr lang="en-US" sz="9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90" name="Group 89">
                    <a:extLst>
                      <a:ext uri="{FF2B5EF4-FFF2-40B4-BE49-F238E27FC236}">
                        <a16:creationId xmlns:a16="http://schemas.microsoft.com/office/drawing/2014/main" id="{EE99DED8-203F-B80D-C5EE-DACED397AC46}"/>
                      </a:ext>
                    </a:extLst>
                  </p:cNvPr>
                  <p:cNvGrpSpPr/>
                  <p:nvPr/>
                </p:nvGrpSpPr>
                <p:grpSpPr>
                  <a:xfrm>
                    <a:off x="6742620" y="1692000"/>
                    <a:ext cx="1942920" cy="1009080"/>
                    <a:chOff x="343080" y="1523880"/>
                    <a:chExt cx="1942920" cy="1009080"/>
                  </a:xfrm>
                </p:grpSpPr>
                <p:sp>
                  <p:nvSpPr>
                    <p:cNvPr id="97" name="Rectangle: Rounded Corners 6">
                      <a:extLst>
                        <a:ext uri="{FF2B5EF4-FFF2-40B4-BE49-F238E27FC236}">
                          <a16:creationId xmlns:a16="http://schemas.microsoft.com/office/drawing/2014/main" id="{531693B5-48B8-E1D9-52B3-FAD9E3711E1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43080" y="1523880"/>
                      <a:ext cx="1942920" cy="625320"/>
                    </a:xfrm>
                    <a:prstGeom prst="roundRect">
                      <a:avLst>
                        <a:gd name="adj" fmla="val 10345"/>
                      </a:avLst>
                    </a:prstGeom>
                    <a:solidFill>
                      <a:srgbClr val="FFFFFF"/>
                    </a:solidFill>
                    <a:ln w="9525">
                      <a:solidFill>
                        <a:srgbClr val="D6E0E5"/>
                      </a:solidFill>
                      <a:round/>
                    </a:ln>
                    <a:effectLst>
                      <a:outerShdw blurRad="19080" dist="9360" dir="5400000">
                        <a:srgbClr val="000000">
                          <a:alpha val="6000"/>
                        </a:srgbClr>
                      </a:outerShdw>
                    </a:effectLst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4">
                      <a:scrgbClr r="0" g="0" b="0"/>
                    </a:effectRef>
                    <a:fontRef idx="minor"/>
                  </p:style>
                  <p:txBody>
                    <a:bodyPr lIns="90000" tIns="45000" rIns="90000" bIns="45000" anchor="t">
                      <a:noAutofit/>
                    </a:bodyPr>
                    <a:lstStyle/>
                    <a:p>
                      <a:endParaRPr lang="en-GB" sz="1800" b="0" u="none" strike="noStrike">
                        <a:solidFill>
                          <a:srgbClr val="071522"/>
                        </a:solidFill>
                        <a:effectLst/>
                        <a:uFillTx/>
                        <a:latin typeface="Aptos"/>
                      </a:endParaRPr>
                    </a:p>
                  </p:txBody>
                </p:sp>
                <p:sp>
                  <p:nvSpPr>
                    <p:cNvPr id="98" name="Rectangle: Rounded Corners 8">
                      <a:extLst>
                        <a:ext uri="{FF2B5EF4-FFF2-40B4-BE49-F238E27FC236}">
                          <a16:creationId xmlns:a16="http://schemas.microsoft.com/office/drawing/2014/main" id="{A6476DEE-F65E-D9E8-306D-F9C8E8FB957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43080" y="1523880"/>
                      <a:ext cx="1942920" cy="85320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chemeClr val="accent6"/>
                    </a:solidFill>
                    <a:ln w="0">
                      <a:solidFill>
                        <a:schemeClr val="accent6"/>
                      </a:solidFill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/>
                  </p:style>
                  <p:txBody>
                    <a:bodyPr lIns="90000" tIns="15840" rIns="90000" bIns="15840" anchor="t">
                      <a:noAutofit/>
                    </a:bodyPr>
                    <a:lstStyle/>
                    <a:p>
                      <a:endParaRPr lang="en-GB" sz="1800" b="0" u="none" strike="noStrike" dirty="0">
                        <a:solidFill>
                          <a:schemeClr val="accent5"/>
                        </a:solidFill>
                        <a:effectLst/>
                        <a:uFillTx/>
                        <a:latin typeface="Aptos"/>
                      </a:endParaRPr>
                    </a:p>
                  </p:txBody>
                </p:sp>
                <p:sp>
                  <p:nvSpPr>
                    <p:cNvPr id="99" name="Rectangle 70">
                      <a:extLst>
                        <a:ext uri="{FF2B5EF4-FFF2-40B4-BE49-F238E27FC236}">
                          <a16:creationId xmlns:a16="http://schemas.microsoft.com/office/drawing/2014/main" id="{1AA1C40A-A5A0-EC3E-7B53-C1419733644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76280" y="1676160"/>
                      <a:ext cx="1676160" cy="190080"/>
                    </a:xfrm>
                    <a:prstGeom prst="rect">
                      <a:avLst/>
                    </a:prstGeom>
                    <a:noFill/>
                    <a:ln w="0"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/>
                  </p:style>
                  <p:txBody>
                    <a:bodyPr lIns="0" tIns="0" rIns="0" bIns="0" anchor="t">
                      <a:noAutofit/>
                    </a:bodyPr>
                    <a:lstStyle/>
                    <a:p>
                      <a:r>
                        <a:rPr lang="en-US" sz="1130" b="1" u="none" strike="noStrike" dirty="0">
                          <a:solidFill>
                            <a:srgbClr val="10243A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IMPERIAL</a:t>
                      </a:r>
                      <a:endParaRPr lang="en-US" sz="113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100" name="Rectangle 71">
                      <a:extLst>
                        <a:ext uri="{FF2B5EF4-FFF2-40B4-BE49-F238E27FC236}">
                          <a16:creationId xmlns:a16="http://schemas.microsoft.com/office/drawing/2014/main" id="{0BAA6D28-A0FA-E758-5E4B-7FECC93A15D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76280" y="1904760"/>
                      <a:ext cx="1695240" cy="628200"/>
                    </a:xfrm>
                    <a:prstGeom prst="rect">
                      <a:avLst/>
                    </a:prstGeom>
                    <a:noFill/>
                    <a:ln w="0"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/>
                  </p:style>
                  <p:txBody>
                    <a:bodyPr lIns="0" tIns="0" rIns="0" bIns="0" anchor="t">
                      <a:noAutofit/>
                    </a:bodyPr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en-US" sz="900" b="0" u="none" strike="noStrike" dirty="0">
                          <a:solidFill>
                            <a:srgbClr val="5C6A75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Casarella, </a:t>
                      </a:r>
                      <a:r>
                        <a:rPr lang="en-US" sz="900" b="0" u="none" strike="noStrike" dirty="0" err="1">
                          <a:solidFill>
                            <a:srgbClr val="5C6A75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Tsiampousi</a:t>
                      </a:r>
                      <a:endParaRPr lang="en-US" sz="900" dirty="0">
                        <a:solidFill>
                          <a:srgbClr val="5C6A75"/>
                        </a:solidFill>
                        <a:latin typeface="Arial"/>
                      </a:endParaRPr>
                    </a:p>
                  </p:txBody>
                </p:sp>
              </p:grpSp>
              <p:grpSp>
                <p:nvGrpSpPr>
                  <p:cNvPr id="91" name="Group 90">
                    <a:extLst>
                      <a:ext uri="{FF2B5EF4-FFF2-40B4-BE49-F238E27FC236}">
                        <a16:creationId xmlns:a16="http://schemas.microsoft.com/office/drawing/2014/main" id="{7616AEB5-BF0F-5DE6-D3F1-B179A0A8EDAE}"/>
                      </a:ext>
                    </a:extLst>
                  </p:cNvPr>
                  <p:cNvGrpSpPr/>
                  <p:nvPr/>
                </p:nvGrpSpPr>
                <p:grpSpPr>
                  <a:xfrm>
                    <a:off x="6742800" y="3906000"/>
                    <a:ext cx="1942920" cy="1009080"/>
                    <a:chOff x="343080" y="3200400"/>
                    <a:chExt cx="1942920" cy="1009080"/>
                  </a:xfrm>
                </p:grpSpPr>
                <p:grpSp>
                  <p:nvGrpSpPr>
                    <p:cNvPr id="92" name="Group 91">
                      <a:extLst>
                        <a:ext uri="{FF2B5EF4-FFF2-40B4-BE49-F238E27FC236}">
                          <a16:creationId xmlns:a16="http://schemas.microsoft.com/office/drawing/2014/main" id="{9190909F-F08D-5558-3EB6-61105F8F6C2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43080" y="3200400"/>
                      <a:ext cx="1942920" cy="627840"/>
                      <a:chOff x="343080" y="3200400"/>
                      <a:chExt cx="1942920" cy="627840"/>
                    </a:xfrm>
                  </p:grpSpPr>
                  <p:sp>
                    <p:nvSpPr>
                      <p:cNvPr id="94" name="Rectangle: Rounded Corners 11">
                        <a:extLst>
                          <a:ext uri="{FF2B5EF4-FFF2-40B4-BE49-F238E27FC236}">
                            <a16:creationId xmlns:a16="http://schemas.microsoft.com/office/drawing/2014/main" id="{C2533592-D7E3-D432-195A-4BF22CBDBD2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43080" y="3200400"/>
                        <a:ext cx="1942920" cy="627840"/>
                      </a:xfrm>
                      <a:prstGeom prst="roundRect">
                        <a:avLst>
                          <a:gd name="adj" fmla="val 10345"/>
                        </a:avLst>
                      </a:prstGeom>
                      <a:solidFill>
                        <a:srgbClr val="FFFFFF"/>
                      </a:solidFill>
                      <a:ln w="9525">
                        <a:solidFill>
                          <a:srgbClr val="D6E0E5"/>
                        </a:solidFill>
                        <a:round/>
                      </a:ln>
                      <a:effectLst>
                        <a:outerShdw blurRad="19080" dist="9360" dir="5400000">
                          <a:srgbClr val="000000">
                            <a:alpha val="6000"/>
                          </a:srgbClr>
                        </a:outerShdw>
                      </a:effectLst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4">
                        <a:scrgbClr r="0" g="0" b="0"/>
                      </a:effectRef>
                      <a:fontRef idx="minor"/>
                    </p:style>
                    <p:txBody>
                      <a:bodyPr lIns="90000" tIns="45000" rIns="90000" bIns="45000" anchor="t">
                        <a:noAutofit/>
                      </a:bodyPr>
                      <a:lstStyle/>
                      <a:p>
                        <a:endParaRPr lang="en-GB" sz="1800" b="0" u="none" strike="noStrike">
                          <a:solidFill>
                            <a:srgbClr val="071522"/>
                          </a:solidFill>
                          <a:effectLst/>
                          <a:uFillTx/>
                          <a:latin typeface="Aptos"/>
                        </a:endParaRPr>
                      </a:p>
                    </p:txBody>
                  </p:sp>
                  <p:sp>
                    <p:nvSpPr>
                      <p:cNvPr id="95" name="Rectangle: Rounded Corners 12">
                        <a:extLst>
                          <a:ext uri="{FF2B5EF4-FFF2-40B4-BE49-F238E27FC236}">
                            <a16:creationId xmlns:a16="http://schemas.microsoft.com/office/drawing/2014/main" id="{9035C16D-3B9C-C8AF-B649-6F273FE2829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43080" y="3200400"/>
                        <a:ext cx="1942920" cy="85320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solidFill>
                        <a:srgbClr val="4C8A43"/>
                      </a:solidFill>
                      <a:ln w="0">
                        <a:solidFill>
                          <a:srgbClr val="4C8A43"/>
                        </a:solidFill>
                      </a:ln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minor"/>
                    </p:style>
                    <p:txBody>
                      <a:bodyPr lIns="90000" tIns="15840" rIns="90000" bIns="15840" anchor="t">
                        <a:noAutofit/>
                      </a:bodyPr>
                      <a:lstStyle/>
                      <a:p>
                        <a:endParaRPr lang="en-GB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endParaRPr>
                      </a:p>
                    </p:txBody>
                  </p:sp>
                  <p:sp>
                    <p:nvSpPr>
                      <p:cNvPr id="96" name="Rectangle 72">
                        <a:extLst>
                          <a:ext uri="{FF2B5EF4-FFF2-40B4-BE49-F238E27FC236}">
                            <a16:creationId xmlns:a16="http://schemas.microsoft.com/office/drawing/2014/main" id="{7D62DF35-6971-F184-E731-773C0D98D68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280" y="3352680"/>
                        <a:ext cx="1676160" cy="190080"/>
                      </a:xfrm>
                      <a:prstGeom prst="rect">
                        <a:avLst/>
                      </a:prstGeom>
                      <a:noFill/>
                      <a:ln w="0">
                        <a:noFill/>
                      </a:ln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minor"/>
                    </p:style>
                    <p:txBody>
                      <a:bodyPr lIns="0" tIns="0" rIns="0" bIns="0" anchor="t">
                        <a:noAutofit/>
                      </a:bodyPr>
                      <a:lstStyle/>
                      <a:p>
                        <a:pPr defTabSz="914400">
                          <a:lnSpc>
                            <a:spcPct val="100000"/>
                          </a:lnSpc>
                        </a:pPr>
                        <a:r>
                          <a:rPr lang="en-US" sz="1130" b="1" u="none" strike="noStrike" dirty="0">
                            <a:solidFill>
                              <a:srgbClr val="10243A"/>
                            </a:solidFill>
                            <a:effectLst/>
                            <a:uFillTx/>
                            <a:latin typeface="Arial"/>
                            <a:ea typeface="Arial"/>
                          </a:rPr>
                          <a:t>TUM</a:t>
                        </a:r>
                        <a:endParaRPr lang="en-US" sz="113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</p:grpSp>
                <p:sp>
                  <p:nvSpPr>
                    <p:cNvPr id="93" name="Rectangle 73">
                      <a:extLst>
                        <a:ext uri="{FF2B5EF4-FFF2-40B4-BE49-F238E27FC236}">
                          <a16:creationId xmlns:a16="http://schemas.microsoft.com/office/drawing/2014/main" id="{A2612364-A517-5CF7-F108-B2FAB784C5D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76280" y="3581280"/>
                      <a:ext cx="1695240" cy="628200"/>
                    </a:xfrm>
                    <a:prstGeom prst="rect">
                      <a:avLst/>
                    </a:prstGeom>
                    <a:noFill/>
                    <a:ln w="0"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/>
                  </p:style>
                  <p:txBody>
                    <a:bodyPr lIns="0" tIns="0" rIns="0" bIns="0" anchor="t">
                      <a:noAutofit/>
                    </a:bodyPr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en-US" sz="900" b="0" u="none" strike="noStrike" dirty="0">
                          <a:solidFill>
                            <a:srgbClr val="5C6A75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Rojas-Botero</a:t>
                      </a:r>
                      <a:r>
                        <a:rPr lang="en-US" sz="900" u="none" strike="noStrike" dirty="0">
                          <a:solidFill>
                            <a:srgbClr val="5C6A75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, Seidl</a:t>
                      </a:r>
                      <a:endParaRPr lang="en-US" sz="90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</p:grpSp>
          </p:grpSp>
          <p:sp>
            <p:nvSpPr>
              <p:cNvPr id="126" name="Rectangle 17">
                <a:extLst>
                  <a:ext uri="{FF2B5EF4-FFF2-40B4-BE49-F238E27FC236}">
                    <a16:creationId xmlns:a16="http://schemas.microsoft.com/office/drawing/2014/main" id="{A2F8C103-C102-38FE-66E3-7CA45D0DFAAA}"/>
                  </a:ext>
                </a:extLst>
              </p:cNvPr>
              <p:cNvSpPr/>
              <p:nvPr/>
            </p:nvSpPr>
            <p:spPr>
              <a:xfrm>
                <a:off x="6275880" y="2875753"/>
                <a:ext cx="2876040" cy="2091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0" tIns="0" rIns="0" bIns="0" anchor="t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r>
                  <a:rPr lang="en-US" sz="1050" b="1" u="none" strike="noStrike" dirty="0">
                    <a:solidFill>
                      <a:srgbClr val="5C6A75"/>
                    </a:solidFill>
                    <a:effectLst/>
                    <a:uFillTx/>
                    <a:latin typeface="Arial"/>
                    <a:ea typeface="Arial"/>
                  </a:rPr>
                  <a:t>HORIZON EUROPE CONNECT FUND</a:t>
                </a:r>
                <a:endParaRPr lang="en-US" sz="105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0C5C6B75-E41E-C584-A788-ABE31BB6802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353" r="14847" b="6673"/>
            <a:stretch>
              <a:fillRect/>
            </a:stretch>
          </p:blipFill>
          <p:spPr>
            <a:xfrm>
              <a:off x="2718017" y="1138351"/>
              <a:ext cx="3707605" cy="3657029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3C0C6B7F-179F-416C-8466-045C480D36BB}"/>
              </a:ext>
            </a:extLst>
          </p:cNvPr>
          <p:cNvSpPr>
            <a:spLocks noGrp="1"/>
          </p:cNvSpPr>
          <p:nvPr/>
        </p:nvSpPr>
        <p:spPr>
          <a:xfrm>
            <a:off x="457200" y="285750"/>
            <a:ext cx="4762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7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43A"/>
                </a:solidFill>
                <a:latin typeface="Arial"/>
                <a:ea typeface="Arial"/>
                <a:cs typeface="Arial"/>
              </a:rPr>
              <a:t>Timeline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B48DB12-BB41-4C89-BC50-08A4FF745C08}"/>
              </a:ext>
            </a:extLst>
          </p:cNvPr>
          <p:cNvSpPr>
            <a:spLocks noGrp="1"/>
          </p:cNvSpPr>
          <p:nvPr/>
        </p:nvSpPr>
        <p:spPr>
          <a:xfrm>
            <a:off x="1323975" y="2705100"/>
            <a:ext cx="7019925" cy="38100"/>
          </a:xfrm>
          <a:prstGeom prst="roundRect">
            <a:avLst>
              <a:gd name="adj" fmla="val 50000"/>
            </a:avLst>
          </a:prstGeom>
          <a:solidFill>
            <a:srgbClr val="A9C7E9"/>
          </a:solidFill>
          <a:ln w="0">
            <a:solidFill>
              <a:srgbClr val="A9C7E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F70697CF-5A7A-4E37-B4E2-289FA69BE158}"/>
              </a:ext>
            </a:extLst>
          </p:cNvPr>
          <p:cNvSpPr>
            <a:spLocks noGrp="1"/>
          </p:cNvSpPr>
          <p:nvPr/>
        </p:nvSpPr>
        <p:spPr>
          <a:xfrm>
            <a:off x="8148637" y="2637367"/>
            <a:ext cx="466725" cy="190500"/>
          </a:xfrm>
          <a:prstGeom prst="rightArrow">
            <a:avLst/>
          </a:prstGeom>
          <a:solidFill>
            <a:srgbClr val="A9C7E9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47D8159-5621-4D5B-BCD3-E871E6A875BA}"/>
              </a:ext>
            </a:extLst>
          </p:cNvPr>
          <p:cNvSpPr>
            <a:spLocks noGrp="1"/>
          </p:cNvSpPr>
          <p:nvPr/>
        </p:nvSpPr>
        <p:spPr>
          <a:xfrm>
            <a:off x="619125" y="2362200"/>
            <a:ext cx="723900" cy="723900"/>
          </a:xfrm>
          <a:prstGeom prst="ellipse">
            <a:avLst/>
          </a:prstGeom>
          <a:solidFill>
            <a:srgbClr val="10243A"/>
          </a:solidFill>
          <a:ln w="28575">
            <a:solidFill>
              <a:srgbClr val="FFFF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lIns="0" tIns="0" rIns="0" bIns="0" anchor="ctr">
            <a:noAutofit/>
          </a:bodyPr>
          <a:lstStyle/>
          <a:p>
            <a:pPr algn="ctr"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ETA</a:t>
            </a:r>
          </a:p>
        </p:txBody>
      </p:sp>
      <p:sp>
        <p:nvSpPr>
          <p:cNvPr id="6" name="Straight Connector 5">
            <a:extLst>
              <a:ext uri="{FF2B5EF4-FFF2-40B4-BE49-F238E27FC236}">
                <a16:creationId xmlns:a16="http://schemas.microsoft.com/office/drawing/2014/main" id="{897F3924-1521-4D23-ABFA-E14BB27D9D5C}"/>
              </a:ext>
            </a:extLst>
          </p:cNvPr>
          <p:cNvSpPr>
            <a:spLocks noGrp="1"/>
          </p:cNvSpPr>
          <p:nvPr/>
        </p:nvSpPr>
        <p:spPr>
          <a:xfrm>
            <a:off x="981075" y="3086100"/>
            <a:ext cx="0" cy="228600"/>
          </a:xfrm>
          <a:prstGeom prst="line">
            <a:avLst/>
          </a:prstGeom>
          <a:noFill/>
          <a:ln w="14288">
            <a:solidFill>
              <a:srgbClr val="D6E0E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8AA786E-AC9A-4BBC-A01D-E75EE95A4A10}"/>
              </a:ext>
            </a:extLst>
          </p:cNvPr>
          <p:cNvSpPr>
            <a:spLocks noGrp="1"/>
          </p:cNvSpPr>
          <p:nvPr/>
        </p:nvSpPr>
        <p:spPr>
          <a:xfrm>
            <a:off x="287867" y="3381375"/>
            <a:ext cx="142875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4000"/>
              </a:lnSpc>
              <a:buNone/>
              <a:defRPr sz="1050" b="0">
                <a:solidFill>
                  <a:srgbClr val="223343"/>
                </a:solidFill>
                <a:latin typeface="Arial"/>
                <a:ea typeface="Arial"/>
                <a:cs typeface="Arial"/>
              </a:defRPr>
            </a:pPr>
            <a:r>
              <a:rPr sz="1050" b="1" dirty="0">
                <a:solidFill>
                  <a:srgbClr val="223343"/>
                </a:solidFill>
                <a:latin typeface="Arial"/>
                <a:ea typeface="Arial"/>
                <a:cs typeface="Arial"/>
              </a:rPr>
              <a:t>AUG/SEP 2026</a:t>
            </a:r>
          </a:p>
          <a:p>
            <a:pPr algn="ctr">
              <a:lnSpc>
                <a:spcPct val="114000"/>
              </a:lnSpc>
              <a:buNone/>
              <a:defRPr sz="1050" b="0">
                <a:solidFill>
                  <a:srgbClr val="223343"/>
                </a:solidFill>
                <a:latin typeface="Arial"/>
                <a:ea typeface="Arial"/>
                <a:cs typeface="Arial"/>
              </a:defRPr>
            </a:pPr>
            <a:r>
              <a:rPr sz="1050" b="0" dirty="0">
                <a:solidFill>
                  <a:srgbClr val="223343"/>
                </a:solidFill>
                <a:latin typeface="Arial"/>
                <a:ea typeface="Arial"/>
                <a:cs typeface="Arial"/>
              </a:rPr>
              <a:t>Visits at Imperial and </a:t>
            </a:r>
            <a:r>
              <a:rPr sz="1050" b="0" dirty="0" err="1">
                <a:solidFill>
                  <a:srgbClr val="223343"/>
                </a:solidFill>
                <a:latin typeface="Arial"/>
                <a:ea typeface="Arial"/>
                <a:cs typeface="Arial"/>
              </a:rPr>
              <a:t>Polimi</a:t>
            </a:r>
            <a:endParaRPr sz="1050" b="0" dirty="0">
              <a:solidFill>
                <a:srgbClr val="223343"/>
              </a:solidFill>
              <a:latin typeface="Arial"/>
              <a:ea typeface="Arial"/>
              <a:cs typeface="Arial"/>
            </a:endParaRPr>
          </a:p>
          <a:p>
            <a:pPr algn="ctr">
              <a:lnSpc>
                <a:spcPct val="114000"/>
              </a:lnSpc>
              <a:buNone/>
              <a:defRPr sz="1050" b="0">
                <a:solidFill>
                  <a:srgbClr val="223343"/>
                </a:solidFill>
                <a:latin typeface="Arial"/>
                <a:ea typeface="Arial"/>
                <a:cs typeface="Arial"/>
              </a:defRPr>
            </a:pPr>
            <a:r>
              <a:rPr sz="1050" b="0" dirty="0">
                <a:solidFill>
                  <a:srgbClr val="223343"/>
                </a:solidFill>
                <a:latin typeface="Arial"/>
                <a:ea typeface="Arial"/>
                <a:cs typeface="Arial"/>
              </a:rPr>
              <a:t>Idea </a:t>
            </a:r>
            <a:r>
              <a:rPr sz="1050" b="0" dirty="0" err="1">
                <a:solidFill>
                  <a:srgbClr val="223343"/>
                </a:solidFill>
                <a:latin typeface="Arial"/>
                <a:ea typeface="Arial"/>
                <a:cs typeface="Arial"/>
              </a:rPr>
              <a:t>formalisation</a:t>
            </a:r>
            <a:endParaRPr sz="1050" b="0" dirty="0">
              <a:solidFill>
                <a:srgbClr val="22334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D04384F-D571-4BE3-B674-AB59D2AE891A}"/>
              </a:ext>
            </a:extLst>
          </p:cNvPr>
          <p:cNvSpPr>
            <a:spLocks noGrp="1"/>
          </p:cNvSpPr>
          <p:nvPr/>
        </p:nvSpPr>
        <p:spPr>
          <a:xfrm>
            <a:off x="1619250" y="2581275"/>
            <a:ext cx="285750" cy="285750"/>
          </a:xfrm>
          <a:prstGeom prst="ellipse">
            <a:avLst/>
          </a:prstGeom>
          <a:solidFill>
            <a:srgbClr val="EDF5E9"/>
          </a:solidFill>
          <a:ln w="19050">
            <a:solidFill>
              <a:srgbClr val="4C8A43"/>
            </a:solidFill>
            <a:prstDash val="solid"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 sz="825" b="1">
                <a:solidFill>
                  <a:srgbClr val="4C8A4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4C8A43"/>
                </a:solidFill>
                <a:latin typeface="Arial"/>
                <a:ea typeface="Arial"/>
                <a:cs typeface="Arial"/>
              </a:rPr>
              <a:t>M1</a:t>
            </a: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D258E989-C8BD-4669-9B14-9A27B12FED52}"/>
              </a:ext>
            </a:extLst>
          </p:cNvPr>
          <p:cNvSpPr>
            <a:spLocks noGrp="1"/>
          </p:cNvSpPr>
          <p:nvPr/>
        </p:nvSpPr>
        <p:spPr>
          <a:xfrm>
            <a:off x="1762125" y="2266950"/>
            <a:ext cx="0" cy="276225"/>
          </a:xfrm>
          <a:prstGeom prst="line">
            <a:avLst/>
          </a:prstGeom>
          <a:noFill/>
          <a:ln w="14288">
            <a:solidFill>
              <a:srgbClr val="D6E0E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CF102E0-FE37-4B1A-A9B4-2727EB1B00F3}"/>
              </a:ext>
            </a:extLst>
          </p:cNvPr>
          <p:cNvSpPr>
            <a:spLocks noGrp="1"/>
          </p:cNvSpPr>
          <p:nvPr/>
        </p:nvSpPr>
        <p:spPr>
          <a:xfrm>
            <a:off x="1181100" y="1695450"/>
            <a:ext cx="11620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12000"/>
              </a:lnSpc>
              <a:buNone/>
              <a:defRPr sz="1050" b="0">
                <a:solidFill>
                  <a:srgbClr val="223343"/>
                </a:solidFill>
                <a:latin typeface="Arial"/>
                <a:ea typeface="Arial"/>
                <a:cs typeface="Arial"/>
              </a:defRPr>
            </a:pPr>
            <a:r>
              <a:rPr sz="1050" b="1" dirty="0">
                <a:solidFill>
                  <a:srgbClr val="223343"/>
                </a:solidFill>
                <a:latin typeface="Arial"/>
                <a:ea typeface="Arial"/>
                <a:cs typeface="Arial"/>
              </a:rPr>
              <a:t>30 OCT 2026</a:t>
            </a:r>
          </a:p>
          <a:p>
            <a:pPr algn="ctr">
              <a:lnSpc>
                <a:spcPct val="112000"/>
              </a:lnSpc>
              <a:buNone/>
              <a:defRPr sz="1050" b="0">
                <a:solidFill>
                  <a:srgbClr val="223343"/>
                </a:solidFill>
                <a:latin typeface="Arial"/>
                <a:ea typeface="Arial"/>
                <a:cs typeface="Arial"/>
              </a:defRPr>
            </a:pPr>
            <a:r>
              <a:rPr sz="1050" b="0" dirty="0">
                <a:solidFill>
                  <a:srgbClr val="223343"/>
                </a:solidFill>
                <a:latin typeface="Arial"/>
                <a:ea typeface="Arial"/>
                <a:cs typeface="Arial"/>
              </a:rPr>
              <a:t>HECF submitted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22500BD-22DD-492B-906D-50F1BFED5886}"/>
              </a:ext>
            </a:extLst>
          </p:cNvPr>
          <p:cNvSpPr>
            <a:spLocks noGrp="1"/>
          </p:cNvSpPr>
          <p:nvPr/>
        </p:nvSpPr>
        <p:spPr>
          <a:xfrm>
            <a:off x="2505075" y="2581275"/>
            <a:ext cx="285750" cy="285750"/>
          </a:xfrm>
          <a:prstGeom prst="ellipse">
            <a:avLst/>
          </a:prstGeom>
          <a:solidFill>
            <a:srgbClr val="E8F1FC"/>
          </a:solidFill>
          <a:ln w="19050">
            <a:solidFill>
              <a:srgbClr val="307BDB"/>
            </a:solidFill>
            <a:prstDash val="solid"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 sz="825" b="1">
                <a:solidFill>
                  <a:srgbClr val="159A9C"/>
                </a:solidFill>
                <a:latin typeface="Arial"/>
                <a:ea typeface="Arial"/>
                <a:cs typeface="Arial"/>
              </a:defRPr>
            </a:pPr>
            <a:r>
              <a:rPr sz="825" b="1" dirty="0">
                <a:solidFill>
                  <a:srgbClr val="307BDB"/>
                </a:solidFill>
                <a:latin typeface="Arial"/>
                <a:ea typeface="Arial"/>
                <a:cs typeface="Arial"/>
              </a:rPr>
              <a:t>M2</a:t>
            </a: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C7CDB67F-DDC9-4289-8161-1B100FC35FDF}"/>
              </a:ext>
            </a:extLst>
          </p:cNvPr>
          <p:cNvSpPr>
            <a:spLocks noGrp="1"/>
          </p:cNvSpPr>
          <p:nvPr/>
        </p:nvSpPr>
        <p:spPr>
          <a:xfrm>
            <a:off x="2647950" y="2905125"/>
            <a:ext cx="0" cy="352425"/>
          </a:xfrm>
          <a:prstGeom prst="line">
            <a:avLst/>
          </a:prstGeom>
          <a:noFill/>
          <a:ln w="14288">
            <a:solidFill>
              <a:srgbClr val="D6E0E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98E3D6A-9E64-4058-B549-1E8DB86EE6B4}"/>
              </a:ext>
            </a:extLst>
          </p:cNvPr>
          <p:cNvSpPr>
            <a:spLocks noGrp="1"/>
          </p:cNvSpPr>
          <p:nvPr/>
        </p:nvSpPr>
        <p:spPr>
          <a:xfrm>
            <a:off x="2047875" y="3333750"/>
            <a:ext cx="12001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206"/>
          </a:bodyPr>
          <a:lstStyle/>
          <a:p>
            <a:pPr algn="ctr">
              <a:lnSpc>
                <a:spcPct val="112000"/>
              </a:lnSpc>
              <a:buNone/>
              <a:defRPr sz="1050" b="0">
                <a:solidFill>
                  <a:srgbClr val="223343"/>
                </a:solidFill>
                <a:latin typeface="Arial"/>
                <a:ea typeface="Arial"/>
                <a:cs typeface="Arial"/>
              </a:defRPr>
            </a:pPr>
            <a:r>
              <a:rPr sz="1050" b="1" dirty="0">
                <a:solidFill>
                  <a:srgbClr val="223343"/>
                </a:solidFill>
                <a:latin typeface="Arial"/>
                <a:ea typeface="Arial"/>
                <a:cs typeface="Arial"/>
              </a:rPr>
              <a:t>DEC 2026</a:t>
            </a:r>
          </a:p>
          <a:p>
            <a:pPr algn="ctr">
              <a:lnSpc>
                <a:spcPct val="112000"/>
              </a:lnSpc>
              <a:buNone/>
              <a:defRPr sz="1050" b="0">
                <a:solidFill>
                  <a:srgbClr val="223343"/>
                </a:solidFill>
                <a:latin typeface="Arial"/>
                <a:ea typeface="Arial"/>
                <a:cs typeface="Arial"/>
              </a:defRPr>
            </a:pPr>
            <a:r>
              <a:rPr sz="1050" b="0" dirty="0">
                <a:solidFill>
                  <a:srgbClr val="223343"/>
                </a:solidFill>
                <a:latin typeface="Arial"/>
                <a:ea typeface="Arial"/>
                <a:cs typeface="Arial"/>
              </a:rPr>
              <a:t>Research visit at TUM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7C51AAD-A5B7-437F-9581-DEFB804C5F92}"/>
              </a:ext>
            </a:extLst>
          </p:cNvPr>
          <p:cNvSpPr>
            <a:spLocks noGrp="1"/>
          </p:cNvSpPr>
          <p:nvPr/>
        </p:nvSpPr>
        <p:spPr>
          <a:xfrm>
            <a:off x="3390900" y="2581275"/>
            <a:ext cx="285750" cy="285750"/>
          </a:xfrm>
          <a:prstGeom prst="ellipse">
            <a:avLst/>
          </a:prstGeom>
          <a:solidFill>
            <a:srgbClr val="E8F1FC"/>
          </a:solidFill>
          <a:ln w="19050">
            <a:solidFill>
              <a:srgbClr val="1D6FD8"/>
            </a:solidFill>
            <a:prstDash val="solid"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 sz="825" b="1">
                <a:solidFill>
                  <a:srgbClr val="1D6FD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D6FD8"/>
                </a:solidFill>
                <a:latin typeface="Arial"/>
                <a:ea typeface="Arial"/>
                <a:cs typeface="Arial"/>
              </a:rPr>
              <a:t>M3</a:t>
            </a: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C2D6658A-496B-46EA-892E-626ACC325799}"/>
              </a:ext>
            </a:extLst>
          </p:cNvPr>
          <p:cNvSpPr>
            <a:spLocks noGrp="1"/>
          </p:cNvSpPr>
          <p:nvPr/>
        </p:nvSpPr>
        <p:spPr>
          <a:xfrm>
            <a:off x="3533775" y="2266950"/>
            <a:ext cx="0" cy="276225"/>
          </a:xfrm>
          <a:prstGeom prst="line">
            <a:avLst/>
          </a:prstGeom>
          <a:noFill/>
          <a:ln w="14288">
            <a:solidFill>
              <a:srgbClr val="D6E0E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1B4CD0E-6488-4CDC-A054-A284B80C146D}"/>
              </a:ext>
            </a:extLst>
          </p:cNvPr>
          <p:cNvSpPr>
            <a:spLocks noGrp="1"/>
          </p:cNvSpPr>
          <p:nvPr/>
        </p:nvSpPr>
        <p:spPr>
          <a:xfrm>
            <a:off x="2881312" y="1159933"/>
            <a:ext cx="12573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2000"/>
              </a:lnSpc>
              <a:buNone/>
              <a:defRPr sz="975" b="0">
                <a:solidFill>
                  <a:srgbClr val="223343"/>
                </a:solidFill>
                <a:latin typeface="Arial"/>
                <a:ea typeface="Arial"/>
                <a:cs typeface="Arial"/>
              </a:defRPr>
            </a:pPr>
            <a:r>
              <a:rPr sz="1050" b="1" dirty="0">
                <a:solidFill>
                  <a:srgbClr val="223343"/>
                </a:solidFill>
                <a:latin typeface="Arial"/>
                <a:ea typeface="Arial"/>
                <a:cs typeface="Arial"/>
              </a:rPr>
              <a:t>FEB 2027</a:t>
            </a:r>
          </a:p>
          <a:p>
            <a:pPr algn="ctr">
              <a:lnSpc>
                <a:spcPct val="112000"/>
              </a:lnSpc>
              <a:buNone/>
              <a:defRPr sz="975" b="0">
                <a:solidFill>
                  <a:srgbClr val="223343"/>
                </a:solidFill>
                <a:latin typeface="Arial"/>
                <a:ea typeface="Arial"/>
                <a:cs typeface="Arial"/>
              </a:defRPr>
            </a:pPr>
            <a:r>
              <a:rPr sz="1050" b="0" dirty="0">
                <a:solidFill>
                  <a:srgbClr val="223343"/>
                </a:solidFill>
                <a:latin typeface="Arial"/>
                <a:ea typeface="Arial"/>
                <a:cs typeface="Arial"/>
              </a:rPr>
              <a:t>Imperial–IIT experimental test</a:t>
            </a:r>
            <a:endParaRPr lang="en-GB" sz="1050" b="0" dirty="0">
              <a:solidFill>
                <a:srgbClr val="223343"/>
              </a:solidFill>
              <a:latin typeface="Arial"/>
              <a:ea typeface="Arial"/>
              <a:cs typeface="Arial"/>
            </a:endParaRPr>
          </a:p>
          <a:p>
            <a:pPr algn="ctr">
              <a:lnSpc>
                <a:spcPct val="112000"/>
              </a:lnSpc>
              <a:buNone/>
              <a:defRPr sz="975" b="0">
                <a:solidFill>
                  <a:srgbClr val="223343"/>
                </a:solidFill>
                <a:latin typeface="Arial"/>
                <a:ea typeface="Arial"/>
                <a:cs typeface="Arial"/>
              </a:defRPr>
            </a:pPr>
            <a:endParaRPr sz="1050" b="0" dirty="0">
              <a:solidFill>
                <a:srgbClr val="223343"/>
              </a:solidFill>
              <a:latin typeface="Arial"/>
              <a:ea typeface="Arial"/>
              <a:cs typeface="Arial"/>
            </a:endParaRPr>
          </a:p>
          <a:p>
            <a:pPr algn="ctr">
              <a:lnSpc>
                <a:spcPct val="112000"/>
              </a:lnSpc>
              <a:buNone/>
              <a:defRPr sz="975" b="0">
                <a:solidFill>
                  <a:srgbClr val="223343"/>
                </a:solidFill>
                <a:latin typeface="Arial"/>
                <a:ea typeface="Arial"/>
                <a:cs typeface="Arial"/>
              </a:defRPr>
            </a:pPr>
            <a:r>
              <a:rPr sz="1050" b="0" dirty="0">
                <a:solidFill>
                  <a:srgbClr val="223343"/>
                </a:solidFill>
                <a:latin typeface="Arial"/>
                <a:ea typeface="Arial"/>
                <a:cs typeface="Arial"/>
              </a:rPr>
              <a:t>Co-supervised MEng thesis starts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0AC1E12-DCFD-4CB8-AF7F-7D15FF082086}"/>
              </a:ext>
            </a:extLst>
          </p:cNvPr>
          <p:cNvSpPr>
            <a:spLocks noGrp="1"/>
          </p:cNvSpPr>
          <p:nvPr/>
        </p:nvSpPr>
        <p:spPr>
          <a:xfrm>
            <a:off x="4276725" y="2581275"/>
            <a:ext cx="285750" cy="285750"/>
          </a:xfrm>
          <a:prstGeom prst="ellipse">
            <a:avLst/>
          </a:prstGeom>
          <a:solidFill>
            <a:srgbClr val="E8F1FC"/>
          </a:solidFill>
          <a:ln w="19050">
            <a:solidFill>
              <a:srgbClr val="1D6FD8"/>
            </a:solidFill>
            <a:prstDash val="solid"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 sz="825" b="1">
                <a:solidFill>
                  <a:srgbClr val="1D6FD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D6FD8"/>
                </a:solidFill>
                <a:latin typeface="Arial"/>
                <a:ea typeface="Arial"/>
                <a:cs typeface="Arial"/>
              </a:rPr>
              <a:t>M4</a:t>
            </a:r>
          </a:p>
        </p:txBody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078766BB-1AF4-4DB6-A186-2C3AFB8B5737}"/>
              </a:ext>
            </a:extLst>
          </p:cNvPr>
          <p:cNvSpPr>
            <a:spLocks noGrp="1"/>
          </p:cNvSpPr>
          <p:nvPr/>
        </p:nvSpPr>
        <p:spPr>
          <a:xfrm>
            <a:off x="4419600" y="2905125"/>
            <a:ext cx="0" cy="352425"/>
          </a:xfrm>
          <a:prstGeom prst="line">
            <a:avLst/>
          </a:prstGeom>
          <a:noFill/>
          <a:ln w="14288">
            <a:solidFill>
              <a:srgbClr val="D6E0E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AEA77F3-ECBC-402E-8EEC-E83ACA71A424}"/>
              </a:ext>
            </a:extLst>
          </p:cNvPr>
          <p:cNvSpPr>
            <a:spLocks noGrp="1"/>
          </p:cNvSpPr>
          <p:nvPr/>
        </p:nvSpPr>
        <p:spPr>
          <a:xfrm>
            <a:off x="3729038" y="3333750"/>
            <a:ext cx="14287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2000"/>
              </a:lnSpc>
              <a:buNone/>
              <a:defRPr sz="975" b="0">
                <a:solidFill>
                  <a:srgbClr val="223343"/>
                </a:solidFill>
                <a:latin typeface="Arial"/>
                <a:ea typeface="Arial"/>
                <a:cs typeface="Arial"/>
              </a:defRPr>
            </a:pPr>
            <a:r>
              <a:rPr sz="1050" b="1" dirty="0">
                <a:solidFill>
                  <a:srgbClr val="223343"/>
                </a:solidFill>
                <a:latin typeface="Arial"/>
                <a:ea typeface="Arial"/>
                <a:cs typeface="Arial"/>
              </a:rPr>
              <a:t>APR 2027</a:t>
            </a:r>
          </a:p>
          <a:p>
            <a:pPr algn="ctr">
              <a:lnSpc>
                <a:spcPct val="112000"/>
              </a:lnSpc>
              <a:buNone/>
              <a:defRPr sz="975" b="0">
                <a:solidFill>
                  <a:srgbClr val="223343"/>
                </a:solidFill>
                <a:latin typeface="Arial"/>
                <a:ea typeface="Arial"/>
                <a:cs typeface="Arial"/>
              </a:defRPr>
            </a:pPr>
            <a:r>
              <a:rPr sz="1050" b="0" dirty="0">
                <a:solidFill>
                  <a:srgbClr val="223343"/>
                </a:solidFill>
                <a:latin typeface="Arial"/>
                <a:ea typeface="Arial"/>
                <a:cs typeface="Arial"/>
              </a:rPr>
              <a:t>Workshop at Imperial</a:t>
            </a:r>
          </a:p>
          <a:p>
            <a:pPr algn="ctr">
              <a:lnSpc>
                <a:spcPct val="112000"/>
              </a:lnSpc>
              <a:buNone/>
              <a:defRPr sz="975" b="0">
                <a:solidFill>
                  <a:srgbClr val="223343"/>
                </a:solidFill>
                <a:latin typeface="Arial"/>
                <a:ea typeface="Arial"/>
                <a:cs typeface="Arial"/>
              </a:defRPr>
            </a:pPr>
            <a:r>
              <a:rPr sz="1050" b="0" dirty="0">
                <a:solidFill>
                  <a:srgbClr val="223343"/>
                </a:solidFill>
                <a:latin typeface="Arial"/>
                <a:ea typeface="Arial"/>
                <a:cs typeface="Arial"/>
              </a:rPr>
              <a:t>Consortium </a:t>
            </a:r>
            <a:r>
              <a:rPr sz="1050" b="0" dirty="0" err="1">
                <a:solidFill>
                  <a:srgbClr val="223343"/>
                </a:solidFill>
                <a:latin typeface="Arial"/>
                <a:ea typeface="Arial"/>
                <a:cs typeface="Arial"/>
              </a:rPr>
              <a:t>finalisation</a:t>
            </a:r>
            <a:endParaRPr sz="1050" b="0" dirty="0">
              <a:solidFill>
                <a:srgbClr val="22334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4C69877C-6BB7-44F8-AF51-62B66750EC9A}"/>
              </a:ext>
            </a:extLst>
          </p:cNvPr>
          <p:cNvSpPr>
            <a:spLocks noGrp="1"/>
          </p:cNvSpPr>
          <p:nvPr/>
        </p:nvSpPr>
        <p:spPr>
          <a:xfrm>
            <a:off x="5162550" y="2581275"/>
            <a:ext cx="285750" cy="285750"/>
          </a:xfrm>
          <a:prstGeom prst="ellipse">
            <a:avLst/>
          </a:prstGeom>
          <a:solidFill>
            <a:srgbClr val="E8F1FC"/>
          </a:solidFill>
          <a:ln w="19050">
            <a:solidFill>
              <a:srgbClr val="1D6FD8"/>
            </a:solidFill>
            <a:prstDash val="solid"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 sz="825" b="1">
                <a:solidFill>
                  <a:srgbClr val="1D6FD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D6FD8"/>
                </a:solidFill>
                <a:latin typeface="Arial"/>
                <a:ea typeface="Arial"/>
                <a:cs typeface="Arial"/>
              </a:rPr>
              <a:t>M5</a:t>
            </a:r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259D9366-4FC5-43D9-A265-C5B5AECA3F4A}"/>
              </a:ext>
            </a:extLst>
          </p:cNvPr>
          <p:cNvSpPr>
            <a:spLocks noGrp="1"/>
          </p:cNvSpPr>
          <p:nvPr/>
        </p:nvSpPr>
        <p:spPr>
          <a:xfrm>
            <a:off x="5305425" y="2266950"/>
            <a:ext cx="0" cy="276225"/>
          </a:xfrm>
          <a:prstGeom prst="line">
            <a:avLst/>
          </a:prstGeom>
          <a:noFill/>
          <a:ln w="14288">
            <a:solidFill>
              <a:srgbClr val="D6E0E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86D7549-5039-419E-BF8A-3DD1C63A9611}"/>
              </a:ext>
            </a:extLst>
          </p:cNvPr>
          <p:cNvSpPr>
            <a:spLocks noGrp="1"/>
          </p:cNvSpPr>
          <p:nvPr/>
        </p:nvSpPr>
        <p:spPr>
          <a:xfrm>
            <a:off x="4676775" y="1562100"/>
            <a:ext cx="12573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2000"/>
              </a:lnSpc>
              <a:buNone/>
              <a:defRPr sz="975" b="0">
                <a:solidFill>
                  <a:srgbClr val="223343"/>
                </a:solidFill>
                <a:latin typeface="Arial"/>
                <a:ea typeface="Arial"/>
                <a:cs typeface="Arial"/>
              </a:defRPr>
            </a:pPr>
            <a:r>
              <a:rPr sz="1050" b="1" dirty="0">
                <a:solidFill>
                  <a:srgbClr val="223343"/>
                </a:solidFill>
                <a:latin typeface="Arial"/>
                <a:ea typeface="Arial"/>
                <a:cs typeface="Arial"/>
              </a:rPr>
              <a:t>MAY 2027</a:t>
            </a:r>
          </a:p>
          <a:p>
            <a:pPr algn="ctr">
              <a:lnSpc>
                <a:spcPct val="112000"/>
              </a:lnSpc>
              <a:buNone/>
              <a:defRPr sz="975" b="0">
                <a:solidFill>
                  <a:srgbClr val="223343"/>
                </a:solidFill>
                <a:latin typeface="Arial"/>
                <a:ea typeface="Arial"/>
                <a:cs typeface="Arial"/>
              </a:defRPr>
            </a:pPr>
            <a:r>
              <a:rPr sz="1050" b="0" dirty="0">
                <a:solidFill>
                  <a:srgbClr val="223343"/>
                </a:solidFill>
                <a:latin typeface="Arial"/>
                <a:ea typeface="Arial"/>
                <a:cs typeface="Arial"/>
              </a:rPr>
              <a:t>Writing kick-off meeting</a:t>
            </a:r>
          </a:p>
          <a:p>
            <a:pPr algn="ctr">
              <a:lnSpc>
                <a:spcPct val="112000"/>
              </a:lnSpc>
              <a:buNone/>
              <a:defRPr sz="975" b="0">
                <a:solidFill>
                  <a:srgbClr val="223343"/>
                </a:solidFill>
                <a:latin typeface="Arial"/>
                <a:ea typeface="Arial"/>
                <a:cs typeface="Arial"/>
              </a:defRPr>
            </a:pPr>
            <a:r>
              <a:rPr sz="1050" b="0" dirty="0">
                <a:solidFill>
                  <a:srgbClr val="223343"/>
                </a:solidFill>
                <a:latin typeface="Arial"/>
                <a:ea typeface="Arial"/>
                <a:cs typeface="Arial"/>
              </a:rPr>
              <a:t>(online)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ED7C85D3-608F-4D5F-A321-56424021B02A}"/>
              </a:ext>
            </a:extLst>
          </p:cNvPr>
          <p:cNvSpPr>
            <a:spLocks noGrp="1"/>
          </p:cNvSpPr>
          <p:nvPr/>
        </p:nvSpPr>
        <p:spPr>
          <a:xfrm>
            <a:off x="6048375" y="2581275"/>
            <a:ext cx="285750" cy="285750"/>
          </a:xfrm>
          <a:prstGeom prst="ellipse">
            <a:avLst/>
          </a:prstGeom>
          <a:solidFill>
            <a:srgbClr val="E8F1FC"/>
          </a:solidFill>
          <a:ln w="19050">
            <a:solidFill>
              <a:srgbClr val="1D6FD8"/>
            </a:solidFill>
            <a:prstDash val="solid"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 sz="825" b="1">
                <a:solidFill>
                  <a:srgbClr val="1D6FD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D6FD8"/>
                </a:solidFill>
                <a:latin typeface="Arial"/>
                <a:ea typeface="Arial"/>
                <a:cs typeface="Arial"/>
              </a:rPr>
              <a:t>M6</a:t>
            </a:r>
          </a:p>
        </p:txBody>
      </p:sp>
      <p:sp>
        <p:nvSpPr>
          <p:cNvPr id="24" name="Straight Connector 23">
            <a:extLst>
              <a:ext uri="{FF2B5EF4-FFF2-40B4-BE49-F238E27FC236}">
                <a16:creationId xmlns:a16="http://schemas.microsoft.com/office/drawing/2014/main" id="{54FA0166-6BC1-4B65-8875-1CC8D0748C44}"/>
              </a:ext>
            </a:extLst>
          </p:cNvPr>
          <p:cNvSpPr>
            <a:spLocks noGrp="1"/>
          </p:cNvSpPr>
          <p:nvPr/>
        </p:nvSpPr>
        <p:spPr>
          <a:xfrm>
            <a:off x="6191250" y="2905125"/>
            <a:ext cx="0" cy="352425"/>
          </a:xfrm>
          <a:prstGeom prst="line">
            <a:avLst/>
          </a:prstGeom>
          <a:noFill/>
          <a:ln w="14288">
            <a:solidFill>
              <a:srgbClr val="D6E0E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FA6546E-DDCB-4521-9067-572B53F9BA72}"/>
              </a:ext>
            </a:extLst>
          </p:cNvPr>
          <p:cNvSpPr>
            <a:spLocks noGrp="1"/>
          </p:cNvSpPr>
          <p:nvPr/>
        </p:nvSpPr>
        <p:spPr>
          <a:xfrm>
            <a:off x="5448300" y="3314700"/>
            <a:ext cx="1504949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2000"/>
              </a:lnSpc>
              <a:buNone/>
              <a:defRPr sz="975" b="0">
                <a:solidFill>
                  <a:srgbClr val="223343"/>
                </a:solidFill>
                <a:latin typeface="Arial"/>
                <a:ea typeface="Arial"/>
                <a:cs typeface="Arial"/>
              </a:defRPr>
            </a:pPr>
            <a:r>
              <a:rPr sz="1050" b="1" dirty="0">
                <a:solidFill>
                  <a:srgbClr val="223343"/>
                </a:solidFill>
                <a:latin typeface="Arial"/>
                <a:ea typeface="Arial"/>
                <a:cs typeface="Arial"/>
              </a:rPr>
              <a:t>JUL 2027</a:t>
            </a:r>
          </a:p>
          <a:p>
            <a:pPr algn="ctr">
              <a:lnSpc>
                <a:spcPct val="112000"/>
              </a:lnSpc>
              <a:buNone/>
              <a:defRPr sz="975" b="0">
                <a:solidFill>
                  <a:srgbClr val="223343"/>
                </a:solidFill>
                <a:latin typeface="Arial"/>
                <a:ea typeface="Arial"/>
                <a:cs typeface="Arial"/>
              </a:defRPr>
            </a:pPr>
            <a:r>
              <a:rPr sz="1050" b="0" dirty="0" err="1">
                <a:solidFill>
                  <a:srgbClr val="223343"/>
                </a:solidFill>
                <a:latin typeface="Arial"/>
                <a:ea typeface="Arial"/>
                <a:cs typeface="Arial"/>
              </a:rPr>
              <a:t>ECoR</a:t>
            </a:r>
            <a:r>
              <a:rPr sz="1050" b="0" dirty="0">
                <a:solidFill>
                  <a:srgbClr val="223343"/>
                </a:solidFill>
                <a:latin typeface="Arial"/>
                <a:ea typeface="Arial"/>
                <a:cs typeface="Arial"/>
              </a:rPr>
              <a:t> paper submission</a:t>
            </a:r>
          </a:p>
          <a:p>
            <a:pPr algn="ctr">
              <a:lnSpc>
                <a:spcPct val="112000"/>
              </a:lnSpc>
              <a:buNone/>
              <a:defRPr sz="975" b="0">
                <a:solidFill>
                  <a:srgbClr val="223343"/>
                </a:solidFill>
                <a:latin typeface="Arial"/>
                <a:ea typeface="Arial"/>
                <a:cs typeface="Arial"/>
              </a:defRPr>
            </a:pPr>
            <a:r>
              <a:rPr sz="1050" b="0" dirty="0">
                <a:solidFill>
                  <a:srgbClr val="223343"/>
                </a:solidFill>
                <a:latin typeface="Arial"/>
                <a:ea typeface="Arial"/>
                <a:cs typeface="Arial"/>
              </a:rPr>
              <a:t>on preliminary results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838DD48A-96D4-47BB-8AEB-510B88F50EB1}"/>
              </a:ext>
            </a:extLst>
          </p:cNvPr>
          <p:cNvSpPr>
            <a:spLocks noGrp="1"/>
          </p:cNvSpPr>
          <p:nvPr/>
        </p:nvSpPr>
        <p:spPr>
          <a:xfrm>
            <a:off x="7772400" y="2533650"/>
            <a:ext cx="381000" cy="381000"/>
          </a:xfrm>
          <a:prstGeom prst="ellipse">
            <a:avLst/>
          </a:prstGeom>
          <a:solidFill>
            <a:srgbClr val="FAEBDD"/>
          </a:solidFill>
          <a:ln w="19050">
            <a:solidFill>
              <a:srgbClr val="D8842F"/>
            </a:solidFill>
            <a:prstDash val="solid"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 sz="1050" b="1">
                <a:solidFill>
                  <a:srgbClr val="D8842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D8842F"/>
                </a:solidFill>
                <a:latin typeface="Arial"/>
                <a:ea typeface="Arial"/>
                <a:cs typeface="Arial"/>
              </a:rPr>
              <a:t>M8</a:t>
            </a:r>
          </a:p>
        </p:txBody>
      </p:sp>
      <p:sp>
        <p:nvSpPr>
          <p:cNvPr id="27" name="Straight Connector 26">
            <a:extLst>
              <a:ext uri="{FF2B5EF4-FFF2-40B4-BE49-F238E27FC236}">
                <a16:creationId xmlns:a16="http://schemas.microsoft.com/office/drawing/2014/main" id="{F4CD2184-B1AD-43E3-BA41-EE4686582DD3}"/>
              </a:ext>
            </a:extLst>
          </p:cNvPr>
          <p:cNvSpPr>
            <a:spLocks noGrp="1"/>
          </p:cNvSpPr>
          <p:nvPr/>
        </p:nvSpPr>
        <p:spPr>
          <a:xfrm>
            <a:off x="7962900" y="2952750"/>
            <a:ext cx="0" cy="304800"/>
          </a:xfrm>
          <a:prstGeom prst="line">
            <a:avLst/>
          </a:prstGeom>
          <a:noFill/>
          <a:ln w="14288">
            <a:solidFill>
              <a:srgbClr val="D6E0E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11E9F5E-96FA-4157-AB23-D4EFCE646EAB}"/>
              </a:ext>
            </a:extLst>
          </p:cNvPr>
          <p:cNvSpPr>
            <a:spLocks noGrp="1"/>
          </p:cNvSpPr>
          <p:nvPr/>
        </p:nvSpPr>
        <p:spPr>
          <a:xfrm>
            <a:off x="7067550" y="3314700"/>
            <a:ext cx="17907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2000"/>
              </a:lnSpc>
              <a:buNone/>
              <a:defRPr sz="900" b="0">
                <a:solidFill>
                  <a:srgbClr val="223343"/>
                </a:solidFill>
                <a:latin typeface="Arial"/>
                <a:ea typeface="Arial"/>
                <a:cs typeface="Arial"/>
              </a:defRPr>
            </a:pPr>
            <a:r>
              <a:rPr sz="1050" b="1" dirty="0">
                <a:solidFill>
                  <a:srgbClr val="223343"/>
                </a:solidFill>
                <a:latin typeface="Arial"/>
                <a:ea typeface="Arial"/>
                <a:cs typeface="Arial"/>
              </a:rPr>
              <a:t>2 SEP 2027</a:t>
            </a:r>
          </a:p>
          <a:p>
            <a:pPr algn="ctr">
              <a:lnSpc>
                <a:spcPct val="112000"/>
              </a:lnSpc>
              <a:buNone/>
              <a:defRPr sz="900" b="0">
                <a:solidFill>
                  <a:srgbClr val="223343"/>
                </a:solidFill>
                <a:latin typeface="Arial"/>
                <a:ea typeface="Arial"/>
                <a:cs typeface="Arial"/>
              </a:defRPr>
            </a:pPr>
            <a:r>
              <a:rPr sz="1050" b="0" dirty="0">
                <a:solidFill>
                  <a:srgbClr val="223343"/>
                </a:solidFill>
                <a:latin typeface="Arial"/>
                <a:ea typeface="Arial"/>
                <a:cs typeface="Arial"/>
              </a:rPr>
              <a:t>SMART-MOLE proposal submitted</a:t>
            </a:r>
          </a:p>
          <a:p>
            <a:pPr algn="ctr">
              <a:lnSpc>
                <a:spcPct val="112000"/>
              </a:lnSpc>
              <a:buNone/>
              <a:defRPr sz="900" b="0">
                <a:solidFill>
                  <a:srgbClr val="223343"/>
                </a:solidFill>
                <a:latin typeface="Arial"/>
                <a:ea typeface="Arial"/>
                <a:cs typeface="Arial"/>
              </a:defRPr>
            </a:pPr>
            <a:r>
              <a:rPr sz="1050" b="0" dirty="0">
                <a:solidFill>
                  <a:srgbClr val="223343"/>
                </a:solidFill>
                <a:latin typeface="Arial"/>
                <a:ea typeface="Arial"/>
                <a:cs typeface="Arial"/>
              </a:rPr>
              <a:t>HORIZON-CL6-2027-01-</a:t>
            </a:r>
          </a:p>
          <a:p>
            <a:pPr algn="ctr">
              <a:lnSpc>
                <a:spcPct val="112000"/>
              </a:lnSpc>
              <a:buNone/>
              <a:defRPr sz="900" b="0">
                <a:solidFill>
                  <a:srgbClr val="223343"/>
                </a:solidFill>
                <a:latin typeface="Arial"/>
                <a:ea typeface="Arial"/>
                <a:cs typeface="Arial"/>
              </a:defRPr>
            </a:pPr>
            <a:r>
              <a:rPr sz="1050" b="0" dirty="0">
                <a:solidFill>
                  <a:srgbClr val="223343"/>
                </a:solidFill>
                <a:latin typeface="Arial"/>
                <a:ea typeface="Arial"/>
                <a:cs typeface="Arial"/>
              </a:rPr>
              <a:t>BIODIV-03</a:t>
            </a:r>
          </a:p>
        </p:txBody>
      </p:sp>
      <p:sp>
        <p:nvSpPr>
          <p:cNvPr id="29" name="Straight Connector 28">
            <a:extLst>
              <a:ext uri="{FF2B5EF4-FFF2-40B4-BE49-F238E27FC236}">
                <a16:creationId xmlns:a16="http://schemas.microsoft.com/office/drawing/2014/main" id="{8C8A1FC1-D1A6-4AAB-94C1-3ACEC43ACADE}"/>
              </a:ext>
            </a:extLst>
          </p:cNvPr>
          <p:cNvSpPr>
            <a:spLocks noGrp="1"/>
          </p:cNvSpPr>
          <p:nvPr/>
        </p:nvSpPr>
        <p:spPr>
          <a:xfrm>
            <a:off x="457200" y="4857750"/>
            <a:ext cx="8229600" cy="0"/>
          </a:xfrm>
          <a:prstGeom prst="line">
            <a:avLst/>
          </a:prstGeom>
          <a:noFill/>
          <a:ln w="9525">
            <a:solidFill>
              <a:srgbClr val="D6E0E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1889626-68C2-4E68-8836-B54A9E3AE999}"/>
              </a:ext>
            </a:extLst>
          </p:cNvPr>
          <p:cNvSpPr>
            <a:spLocks noGrp="1"/>
          </p:cNvSpPr>
          <p:nvPr/>
        </p:nvSpPr>
        <p:spPr>
          <a:xfrm>
            <a:off x="457200" y="4914900"/>
            <a:ext cx="4000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825" b="1">
                <a:solidFill>
                  <a:srgbClr val="5C6A75"/>
                </a:solidFill>
                <a:latin typeface="Arial"/>
                <a:ea typeface="Arial"/>
                <a:cs typeface="Arial"/>
              </a:defRPr>
            </a:pPr>
            <a:r>
              <a:rPr sz="825" b="1" dirty="0">
                <a:solidFill>
                  <a:srgbClr val="5C6A75"/>
                </a:solidFill>
                <a:latin typeface="Arial"/>
                <a:ea typeface="Arial"/>
                <a:cs typeface="Arial"/>
              </a:rPr>
              <a:t>SMART-MOLE  </a:t>
            </a:r>
          </a:p>
        </p:txBody>
      </p:sp>
      <p:sp>
        <p:nvSpPr>
          <p:cNvPr id="33" name="timeline-m7-connector">
            <a:extLst>
              <a:ext uri="{FF2B5EF4-FFF2-40B4-BE49-F238E27FC236}">
                <a16:creationId xmlns:a16="http://schemas.microsoft.com/office/drawing/2014/main" id="{E497CEB2-16DE-4A55-8830-7D8A8BA993E0}"/>
              </a:ext>
            </a:extLst>
          </p:cNvPr>
          <p:cNvSpPr>
            <a:spLocks noGrp="1"/>
          </p:cNvSpPr>
          <p:nvPr/>
        </p:nvSpPr>
        <p:spPr>
          <a:xfrm>
            <a:off x="7077075" y="2266950"/>
            <a:ext cx="0" cy="276225"/>
          </a:xfrm>
          <a:prstGeom prst="line">
            <a:avLst/>
          </a:prstGeom>
          <a:noFill/>
          <a:ln w="14288">
            <a:solidFill>
              <a:srgbClr val="D6E0E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timeline-m7-label">
            <a:extLst>
              <a:ext uri="{FF2B5EF4-FFF2-40B4-BE49-F238E27FC236}">
                <a16:creationId xmlns:a16="http://schemas.microsoft.com/office/drawing/2014/main" id="{A79E192B-B1D8-47D4-A827-90D5364553A6}"/>
              </a:ext>
            </a:extLst>
          </p:cNvPr>
          <p:cNvSpPr>
            <a:spLocks noGrp="1"/>
          </p:cNvSpPr>
          <p:nvPr/>
        </p:nvSpPr>
        <p:spPr>
          <a:xfrm>
            <a:off x="6448425" y="1562100"/>
            <a:ext cx="12573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ctr">
            <a:normAutofit/>
          </a:bodyPr>
          <a:lstStyle/>
          <a:p>
            <a:pPr algn="ctr">
              <a:defRPr sz="938">
                <a:solidFill>
                  <a:srgbClr val="223343"/>
                </a:solidFill>
                <a:latin typeface="Arial"/>
                <a:ea typeface="Arial"/>
                <a:cs typeface="Arial"/>
              </a:defRPr>
            </a:pPr>
            <a:r>
              <a:rPr sz="1050" b="1" dirty="0">
                <a:solidFill>
                  <a:srgbClr val="223343"/>
                </a:solidFill>
                <a:latin typeface="Arial"/>
                <a:ea typeface="Arial"/>
                <a:cs typeface="Arial"/>
              </a:rPr>
              <a:t>AUG 2027</a:t>
            </a:r>
          </a:p>
          <a:p>
            <a:pPr algn="ctr">
              <a:defRPr sz="938">
                <a:solidFill>
                  <a:srgbClr val="223343"/>
                </a:solidFill>
                <a:latin typeface="Arial"/>
                <a:ea typeface="Arial"/>
                <a:cs typeface="Arial"/>
              </a:defRPr>
            </a:pPr>
            <a:r>
              <a:rPr lang="en-GB" sz="1050" dirty="0">
                <a:solidFill>
                  <a:srgbClr val="223343"/>
                </a:solidFill>
                <a:latin typeface="Arial"/>
                <a:ea typeface="Arial"/>
                <a:cs typeface="Arial"/>
              </a:rPr>
              <a:t>Co-supervised </a:t>
            </a:r>
            <a:r>
              <a:rPr sz="1050" dirty="0">
                <a:solidFill>
                  <a:srgbClr val="223343"/>
                </a:solidFill>
                <a:latin typeface="Arial"/>
                <a:ea typeface="Arial"/>
                <a:cs typeface="Arial"/>
              </a:rPr>
              <a:t>MSc student starts</a:t>
            </a:r>
          </a:p>
        </p:txBody>
      </p:sp>
      <p:sp>
        <p:nvSpPr>
          <p:cNvPr id="34" name="timeline-m7-marker">
            <a:extLst>
              <a:ext uri="{FF2B5EF4-FFF2-40B4-BE49-F238E27FC236}">
                <a16:creationId xmlns:a16="http://schemas.microsoft.com/office/drawing/2014/main" id="{FB199451-BDB3-42B0-BC98-0C99CDCE4BC3}"/>
              </a:ext>
            </a:extLst>
          </p:cNvPr>
          <p:cNvSpPr>
            <a:spLocks noGrp="1"/>
          </p:cNvSpPr>
          <p:nvPr/>
        </p:nvSpPr>
        <p:spPr>
          <a:xfrm>
            <a:off x="6934200" y="2581275"/>
            <a:ext cx="285750" cy="285750"/>
          </a:xfrm>
          <a:prstGeom prst="ellipse">
            <a:avLst/>
          </a:prstGeom>
          <a:solidFill>
            <a:srgbClr val="E8F1FC"/>
          </a:solidFill>
          <a:ln w="19050">
            <a:solidFill>
              <a:srgbClr val="1D6FD8"/>
            </a:solidFill>
            <a:prstDash val="solid"/>
          </a:ln>
        </p:spPr>
        <p:txBody>
          <a:bodyPr lIns="0" tIns="0" rIns="0" bIns="0" anchor="ctr">
            <a:noAutofit/>
          </a:bodyPr>
          <a:lstStyle/>
          <a:p>
            <a:pPr algn="ctr">
              <a:defRPr sz="825" b="1">
                <a:solidFill>
                  <a:srgbClr val="1D6FD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D6FD8"/>
                </a:solidFill>
                <a:latin typeface="Arial"/>
                <a:ea typeface="Arial"/>
                <a:cs typeface="Arial"/>
              </a:rPr>
              <a:t>M7</a:t>
            </a:r>
          </a:p>
        </p:txBody>
      </p:sp>
    </p:spTree>
    <p:extLst>
      <p:ext uri="{BB962C8B-B14F-4D97-AF65-F5344CB8AC3E}">
        <p14:creationId xmlns:p14="http://schemas.microsoft.com/office/powerpoint/2010/main" val="29453747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SMART-MOLE">
      <a:dk1>
        <a:srgbClr val="071522"/>
      </a:dk1>
      <a:lt1>
        <a:srgbClr val="FFFFFF"/>
      </a:lt1>
      <a:dk2>
        <a:srgbClr val="213447"/>
      </a:dk2>
      <a:lt2>
        <a:srgbClr val="E4EBEE"/>
      </a:lt2>
      <a:accent1>
        <a:srgbClr val="1D6FD8"/>
      </a:accent1>
      <a:accent2>
        <a:srgbClr val="159A9C"/>
      </a:accent2>
      <a:accent3>
        <a:srgbClr val="4C8A43"/>
      </a:accent3>
      <a:accent4>
        <a:srgbClr val="D8842F"/>
      </a:accent4>
      <a:accent5>
        <a:srgbClr val="7A59A3"/>
      </a:accent5>
      <a:accent6>
        <a:srgbClr val="A97846"/>
      </a:accent6>
      <a:hlink>
        <a:srgbClr val="1D6FD8"/>
      </a:hlink>
      <a:folHlink>
        <a:srgbClr val="7A59A3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SMART-MOL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SMART-MOLE">
      <a:dk1>
        <a:srgbClr val="071522"/>
      </a:dk1>
      <a:lt1>
        <a:srgbClr val="FFFFFF"/>
      </a:lt1>
      <a:dk2>
        <a:srgbClr val="213447"/>
      </a:dk2>
      <a:lt2>
        <a:srgbClr val="E4EBEE"/>
      </a:lt2>
      <a:accent1>
        <a:srgbClr val="1D6FD8"/>
      </a:accent1>
      <a:accent2>
        <a:srgbClr val="159A9C"/>
      </a:accent2>
      <a:accent3>
        <a:srgbClr val="4C8A43"/>
      </a:accent3>
      <a:accent4>
        <a:srgbClr val="D8842F"/>
      </a:accent4>
      <a:accent5>
        <a:srgbClr val="7A59A3"/>
      </a:accent5>
      <a:accent6>
        <a:srgbClr val="A97846"/>
      </a:accent6>
      <a:hlink>
        <a:srgbClr val="1D6FD8"/>
      </a:hlink>
      <a:folHlink>
        <a:srgbClr val="7A59A3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SMART-MOL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346</TotalTime>
  <Words>277</Words>
  <Application>Microsoft Office PowerPoint</Application>
  <DocSecurity>0</DocSecurity>
  <PresentationFormat>On-screen Show (16:9)</PresentationFormat>
  <Paragraphs>87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Aptos</vt:lpstr>
      <vt:lpstr>Arial</vt:lpstr>
      <vt:lpstr>Symbol</vt:lpstr>
      <vt:lpstr>Times New Roman</vt:lpstr>
      <vt:lpstr>Wingdings</vt:lpstr>
      <vt:lpstr>ChatGPT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Casarella, Angela</cp:lastModifiedBy>
  <cp:revision>9</cp:revision>
  <dcterms:created xsi:type="dcterms:W3CDTF">2026-10-07T09:08:49Z</dcterms:created>
  <dcterms:modified xsi:type="dcterms:W3CDTF">2026-10-07T15:07:46Z</dcterms:modified>
</cp:coreProperties>
</file>